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On-Time Delivery Rate</c:v>
                </c:pt>
              </c:strCache>
            </c:strRef>
          </c:tx>
          <c:spPr>
            <a:solidFill>
              <a:srgbClr val="3B5D82"/>
            </a:solidFill>
            <a:effectLst/>
          </c:spPr>
          <c:invertIfNegative val="0"/>
          <c:dLbls>
            <c:numFmt formatCode="0.0&quot;%&quot;" sourceLinked="0"/>
            <c:spPr>
              <a:noFill/>
              <a:ln>
                <a:noFill/>
              </a:ln>
              <a:effectLst/>
            </c:spPr>
            <c:txPr>
              <a:bodyPr/>
              <a:lstStyle/>
              <a:p>
                <a:pPr>
                  <a:defRPr sz="1100" b="0" i="0" u="none" strike="noStrike">
                    <a:solidFill>
                      <a:srgbClr val="152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Express</c:v>
                </c:pt>
                <c:pt idx="1">
                  <c:v>Standard</c:v>
                </c:pt>
                <c:pt idx="2">
                  <c:v>Overnight</c:v>
                </c:pt>
                <c:pt idx="3">
                  <c:v>Economy</c:v>
                </c:pt>
              </c:strCache>
            </c:strRef>
          </c:cat>
          <c:val>
            <c:numRef>
              <c:f>Sheet1!$B$2:$B$5</c:f>
              <c:numCache>
                <c:formatCode>General</c:formatCode>
                <c:ptCount val="4"/>
                <c:pt idx="0">
                  <c:v>35.01</c:v>
                </c:pt>
                <c:pt idx="1">
                  <c:v>34.369999999999997</c:v>
                </c:pt>
                <c:pt idx="2">
                  <c:v>31.79</c:v>
                </c:pt>
                <c:pt idx="3">
                  <c:v>31.09</c:v>
                </c:pt>
              </c:numCache>
            </c:numRef>
          </c:val>
          <c:extLst>
            <c:ext xmlns:c16="http://schemas.microsoft.com/office/drawing/2014/chart" uri="{C3380CC4-5D6E-409C-BE32-E72D297353CC}">
              <c16:uniqueId val="{00000000-361F-4B3F-96D7-83D0EE8D043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w="12700" cap="flat">
          <a:solidFill>
            <a:srgbClr val="363636"/>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23059924154251865"/>
          <c:y val="8.4876543209876545E-2"/>
          <c:w val="0.76940075845748146"/>
          <c:h val="0.91512345679012341"/>
        </c:manualLayout>
      </c:layout>
      <c:barChart>
        <c:barDir val="bar"/>
        <c:grouping val="clustered"/>
        <c:varyColors val="0"/>
        <c:ser>
          <c:idx val="0"/>
          <c:order val="0"/>
          <c:tx>
            <c:strRef>
              <c:f>Sheet1!$B$1</c:f>
              <c:strCache>
                <c:ptCount val="1"/>
                <c:pt idx="0">
                  <c:v>Revenue by Region</c:v>
                </c:pt>
              </c:strCache>
            </c:strRef>
          </c:tx>
          <c:spPr>
            <a:solidFill>
              <a:srgbClr val="E8A33D"/>
            </a:solidFill>
            <a:effectLst/>
          </c:spPr>
          <c:invertIfNegative val="0"/>
          <c:dLbls>
            <c:numFmt formatCode="&quot;$&quot;0&quot;M&quot;" sourceLinked="0"/>
            <c:spPr>
              <a:noFill/>
              <a:ln>
                <a:noFill/>
              </a:ln>
              <a:effectLst/>
            </c:spPr>
            <c:txPr>
              <a:bodyPr/>
              <a:lstStyle/>
              <a:p>
                <a:pPr>
                  <a:defRPr sz="1100" b="0" i="0" u="none" strike="noStrike">
                    <a:solidFill>
                      <a:srgbClr val="152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East Africa</c:v>
                </c:pt>
                <c:pt idx="1">
                  <c:v>West Africa</c:v>
                </c:pt>
                <c:pt idx="2">
                  <c:v>Central Africa</c:v>
                </c:pt>
                <c:pt idx="3">
                  <c:v>Southern Africa</c:v>
                </c:pt>
                <c:pt idx="4">
                  <c:v>North Africa</c:v>
                </c:pt>
              </c:strCache>
            </c:strRef>
          </c:cat>
          <c:val>
            <c:numRef>
              <c:f>Sheet1!$B$2:$B$6</c:f>
              <c:numCache>
                <c:formatCode>General</c:formatCode>
                <c:ptCount val="5"/>
                <c:pt idx="0">
                  <c:v>111</c:v>
                </c:pt>
                <c:pt idx="1">
                  <c:v>100</c:v>
                </c:pt>
                <c:pt idx="2">
                  <c:v>98</c:v>
                </c:pt>
                <c:pt idx="3">
                  <c:v>88</c:v>
                </c:pt>
                <c:pt idx="4">
                  <c:v>87</c:v>
                </c:pt>
              </c:numCache>
            </c:numRef>
          </c:val>
          <c:extLst>
            <c:ext xmlns:c16="http://schemas.microsoft.com/office/drawing/2014/chart" uri="{C3380CC4-5D6E-409C-BE32-E72D297353CC}">
              <c16:uniqueId val="{00000000-6474-44F2-8548-407D5BE928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w="12700" cap="flat">
          <a:solidFill>
            <a:srgbClr val="363636"/>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Stock Level</c:v>
                </c:pt>
              </c:strCache>
            </c:strRef>
          </c:tx>
          <c:spPr>
            <a:solidFill>
              <a:srgbClr val="3B5D82"/>
            </a:solidFill>
            <a:effectLst/>
          </c:spPr>
          <c:invertIfNegative val="0"/>
          <c:cat>
            <c:strRef>
              <c:f>Sheet1!$A$2:$A$11</c:f>
              <c:strCache>
                <c:ptCount val="10"/>
                <c:pt idx="0">
                  <c:v>Health</c:v>
                </c:pt>
                <c:pt idx="1">
                  <c:v>Industrial</c:v>
                </c:pt>
                <c:pt idx="2">
                  <c:v>Home Appl.</c:v>
                </c:pt>
                <c:pt idx="3">
                  <c:v>Clothing</c:v>
                </c:pt>
                <c:pt idx="4">
                  <c:v>Food &amp; Bev.</c:v>
                </c:pt>
                <c:pt idx="5">
                  <c:v>Agriculture</c:v>
                </c:pt>
                <c:pt idx="6">
                  <c:v>Sports</c:v>
                </c:pt>
                <c:pt idx="7">
                  <c:v>Office Sup.</c:v>
                </c:pt>
                <c:pt idx="8">
                  <c:v>Automotive</c:v>
                </c:pt>
                <c:pt idx="9">
                  <c:v>Electronics</c:v>
                </c:pt>
              </c:strCache>
            </c:strRef>
          </c:cat>
          <c:val>
            <c:numRef>
              <c:f>Sheet1!$B$2:$B$11</c:f>
              <c:numCache>
                <c:formatCode>General</c:formatCode>
                <c:ptCount val="10"/>
                <c:pt idx="0">
                  <c:v>0.38</c:v>
                </c:pt>
                <c:pt idx="1">
                  <c:v>0.36</c:v>
                </c:pt>
                <c:pt idx="2">
                  <c:v>0.36</c:v>
                </c:pt>
                <c:pt idx="3">
                  <c:v>0.62</c:v>
                </c:pt>
                <c:pt idx="4">
                  <c:v>0.62</c:v>
                </c:pt>
                <c:pt idx="5">
                  <c:v>0.35</c:v>
                </c:pt>
                <c:pt idx="6">
                  <c:v>0.35</c:v>
                </c:pt>
                <c:pt idx="7">
                  <c:v>0.33</c:v>
                </c:pt>
                <c:pt idx="8">
                  <c:v>0.33</c:v>
                </c:pt>
                <c:pt idx="9">
                  <c:v>0.31</c:v>
                </c:pt>
              </c:numCache>
            </c:numRef>
          </c:val>
          <c:extLst>
            <c:ext xmlns:c16="http://schemas.microsoft.com/office/drawing/2014/chart" uri="{C3380CC4-5D6E-409C-BE32-E72D297353CC}">
              <c16:uniqueId val="{00000000-2533-4386-B415-AAC83545810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w="12700" cap="flat">
          <a:solidFill>
            <a:srgbClr val="363636"/>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c:v>
                </c:pt>
              </c:strCache>
            </c:strRef>
          </c:tx>
          <c:spPr>
            <a:ln w="31750" cap="flat">
              <a:solidFill>
                <a:srgbClr val="E8A33D"/>
              </a:solidFill>
              <a:prstDash val="solid"/>
              <a:round/>
            </a:ln>
            <a:effectLst/>
          </c:spPr>
          <c:marker>
            <c:symbol val="circle"/>
            <c:size val="6"/>
            <c:spPr>
              <a:solidFill>
                <a:srgbClr val="E8A33D"/>
              </a:solidFill>
              <a:ln w="9525" cap="flat">
                <a:solidFill>
                  <a:srgbClr val="E8A33D"/>
                </a:solidFill>
                <a:prstDash val="solid"/>
                <a:round/>
              </a:ln>
              <a:effectLst/>
            </c:spPr>
          </c:marker>
          <c:cat>
            <c:strRef>
              <c:f>Sheet1!$A$2:$A$9</c:f>
              <c:strCache>
                <c:ptCount val="8"/>
                <c:pt idx="0">
                  <c:v>Jan23</c:v>
                </c:pt>
                <c:pt idx="1">
                  <c:v>Apr23</c:v>
                </c:pt>
                <c:pt idx="2">
                  <c:v>Jul23</c:v>
                </c:pt>
                <c:pt idx="3">
                  <c:v>Oct23</c:v>
                </c:pt>
                <c:pt idx="4">
                  <c:v>Jan24</c:v>
                </c:pt>
                <c:pt idx="5">
                  <c:v>Apr24</c:v>
                </c:pt>
                <c:pt idx="6">
                  <c:v>Jul24</c:v>
                </c:pt>
                <c:pt idx="7">
                  <c:v>Oct24</c:v>
                </c:pt>
              </c:strCache>
            </c:strRef>
          </c:cat>
          <c:val>
            <c:numRef>
              <c:f>Sheet1!$B$2:$B$9</c:f>
              <c:numCache>
                <c:formatCode>General</c:formatCode>
                <c:ptCount val="8"/>
                <c:pt idx="0">
                  <c:v>30</c:v>
                </c:pt>
                <c:pt idx="1">
                  <c:v>28</c:v>
                </c:pt>
                <c:pt idx="2">
                  <c:v>33</c:v>
                </c:pt>
                <c:pt idx="3">
                  <c:v>26</c:v>
                </c:pt>
                <c:pt idx="4">
                  <c:v>12</c:v>
                </c:pt>
                <c:pt idx="5">
                  <c:v>11</c:v>
                </c:pt>
                <c:pt idx="6">
                  <c:v>9</c:v>
                </c:pt>
                <c:pt idx="7">
                  <c:v>4</c:v>
                </c:pt>
              </c:numCache>
            </c:numRef>
          </c:val>
          <c:smooth val="0"/>
          <c:extLst>
            <c:ext xmlns:c16="http://schemas.microsoft.com/office/drawing/2014/chart" uri="{C3380CC4-5D6E-409C-BE32-E72D297353CC}">
              <c16:uniqueId val="{00000000-754C-46EE-9EFF-6C89681E93D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w="12700" cap="flat">
          <a:solidFill>
            <a:srgbClr val="363636"/>
          </a:solid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148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52238"/>
          </a:solidFill>
          <a:ln/>
        </p:spPr>
      </p:sp>
      <p:sp>
        <p:nvSpPr>
          <p:cNvPr id="3" name="Shape 1"/>
          <p:cNvSpPr/>
          <p:nvPr/>
        </p:nvSpPr>
        <p:spPr>
          <a:xfrm>
            <a:off x="0" y="5669280"/>
            <a:ext cx="12188952" cy="1188720"/>
          </a:xfrm>
          <a:prstGeom prst="rect">
            <a:avLst/>
          </a:prstGeom>
          <a:solidFill>
            <a:srgbClr val="1C2E4A"/>
          </a:solidFill>
          <a:ln/>
        </p:spPr>
      </p:sp>
      <p:sp>
        <p:nvSpPr>
          <p:cNvPr id="4" name="Shape 2"/>
          <p:cNvSpPr/>
          <p:nvPr/>
        </p:nvSpPr>
        <p:spPr>
          <a:xfrm>
            <a:off x="822960" y="1417320"/>
            <a:ext cx="82296" cy="82296"/>
          </a:xfrm>
          <a:prstGeom prst="ellipse">
            <a:avLst/>
          </a:prstGeom>
          <a:solidFill>
            <a:srgbClr val="3B5D82"/>
          </a:solidFill>
          <a:ln/>
        </p:spPr>
      </p:sp>
      <p:sp>
        <p:nvSpPr>
          <p:cNvPr id="5" name="Shape 3"/>
          <p:cNvSpPr/>
          <p:nvPr/>
        </p:nvSpPr>
        <p:spPr>
          <a:xfrm>
            <a:off x="2057400" y="1417320"/>
            <a:ext cx="82296" cy="82296"/>
          </a:xfrm>
          <a:prstGeom prst="ellipse">
            <a:avLst/>
          </a:prstGeom>
          <a:solidFill>
            <a:srgbClr val="3B5D82"/>
          </a:solidFill>
          <a:ln/>
        </p:spPr>
      </p:sp>
      <p:sp>
        <p:nvSpPr>
          <p:cNvPr id="6" name="Shape 4"/>
          <p:cNvSpPr/>
          <p:nvPr/>
        </p:nvSpPr>
        <p:spPr>
          <a:xfrm>
            <a:off x="3291840" y="1417320"/>
            <a:ext cx="82296" cy="82296"/>
          </a:xfrm>
          <a:prstGeom prst="ellipse">
            <a:avLst/>
          </a:prstGeom>
          <a:solidFill>
            <a:srgbClr val="3B5D82"/>
          </a:solidFill>
          <a:ln/>
        </p:spPr>
      </p:sp>
      <p:sp>
        <p:nvSpPr>
          <p:cNvPr id="7" name="Shape 5"/>
          <p:cNvSpPr/>
          <p:nvPr/>
        </p:nvSpPr>
        <p:spPr>
          <a:xfrm>
            <a:off x="4526280" y="1417320"/>
            <a:ext cx="82296" cy="82296"/>
          </a:xfrm>
          <a:prstGeom prst="ellipse">
            <a:avLst/>
          </a:prstGeom>
          <a:solidFill>
            <a:srgbClr val="3B5D82"/>
          </a:solidFill>
          <a:ln/>
        </p:spPr>
      </p:sp>
      <p:sp>
        <p:nvSpPr>
          <p:cNvPr id="8" name="Shape 6"/>
          <p:cNvSpPr/>
          <p:nvPr/>
        </p:nvSpPr>
        <p:spPr>
          <a:xfrm>
            <a:off x="5760720" y="1417320"/>
            <a:ext cx="82296" cy="82296"/>
          </a:xfrm>
          <a:prstGeom prst="ellipse">
            <a:avLst/>
          </a:prstGeom>
          <a:solidFill>
            <a:srgbClr val="3B5D82"/>
          </a:solidFill>
          <a:ln/>
        </p:spPr>
      </p:sp>
      <p:sp>
        <p:nvSpPr>
          <p:cNvPr id="9" name="Shape 7"/>
          <p:cNvSpPr/>
          <p:nvPr/>
        </p:nvSpPr>
        <p:spPr>
          <a:xfrm>
            <a:off x="6995160" y="1417320"/>
            <a:ext cx="82296" cy="82296"/>
          </a:xfrm>
          <a:prstGeom prst="ellipse">
            <a:avLst/>
          </a:prstGeom>
          <a:solidFill>
            <a:srgbClr val="3B5D82"/>
          </a:solidFill>
          <a:ln/>
        </p:spPr>
      </p:sp>
      <p:sp>
        <p:nvSpPr>
          <p:cNvPr id="10" name="Shape 8"/>
          <p:cNvSpPr/>
          <p:nvPr/>
        </p:nvSpPr>
        <p:spPr>
          <a:xfrm>
            <a:off x="8229600" y="1417320"/>
            <a:ext cx="82296" cy="82296"/>
          </a:xfrm>
          <a:prstGeom prst="ellipse">
            <a:avLst/>
          </a:prstGeom>
          <a:solidFill>
            <a:srgbClr val="3B5D82"/>
          </a:solidFill>
          <a:ln/>
        </p:spPr>
      </p:sp>
      <p:sp>
        <p:nvSpPr>
          <p:cNvPr id="11" name="Shape 9"/>
          <p:cNvSpPr/>
          <p:nvPr/>
        </p:nvSpPr>
        <p:spPr>
          <a:xfrm>
            <a:off x="9464040" y="1417320"/>
            <a:ext cx="82296" cy="82296"/>
          </a:xfrm>
          <a:prstGeom prst="ellipse">
            <a:avLst/>
          </a:prstGeom>
          <a:solidFill>
            <a:srgbClr val="3B5D82"/>
          </a:solidFill>
          <a:ln/>
        </p:spPr>
      </p:sp>
      <p:sp>
        <p:nvSpPr>
          <p:cNvPr id="12" name="Shape 10"/>
          <p:cNvSpPr/>
          <p:nvPr/>
        </p:nvSpPr>
        <p:spPr>
          <a:xfrm>
            <a:off x="10698480" y="1417320"/>
            <a:ext cx="82296" cy="82296"/>
          </a:xfrm>
          <a:prstGeom prst="ellipse">
            <a:avLst/>
          </a:prstGeom>
          <a:solidFill>
            <a:srgbClr val="E8A33D"/>
          </a:solidFill>
          <a:ln/>
        </p:spPr>
      </p:sp>
      <p:sp>
        <p:nvSpPr>
          <p:cNvPr id="13" name="Shape 11"/>
          <p:cNvSpPr/>
          <p:nvPr/>
        </p:nvSpPr>
        <p:spPr>
          <a:xfrm>
            <a:off x="859536" y="1458468"/>
            <a:ext cx="9921240" cy="0"/>
          </a:xfrm>
          <a:prstGeom prst="line">
            <a:avLst/>
          </a:prstGeom>
          <a:noFill/>
          <a:ln w="15875">
            <a:solidFill>
              <a:srgbClr val="3B5D82"/>
            </a:solidFill>
            <a:prstDash val="dash"/>
          </a:ln>
        </p:spPr>
      </p:sp>
      <p:sp>
        <p:nvSpPr>
          <p:cNvPr id="14" name="Shape 12"/>
          <p:cNvSpPr/>
          <p:nvPr/>
        </p:nvSpPr>
        <p:spPr>
          <a:xfrm>
            <a:off x="10378440" y="1229868"/>
            <a:ext cx="457200" cy="457200"/>
          </a:xfrm>
          <a:prstGeom prst="ellipse">
            <a:avLst/>
          </a:prstGeom>
          <a:solidFill>
            <a:srgbClr val="E8A33D"/>
          </a:solidFill>
          <a:ln/>
        </p:spPr>
      </p:sp>
      <p:pic>
        <p:nvPicPr>
          <p:cNvPr id="15" name="Image 0" descr="icons/truck-white.png"/>
          <p:cNvPicPr>
            <a:picLocks noChangeAspect="1"/>
          </p:cNvPicPr>
          <p:nvPr/>
        </p:nvPicPr>
        <p:blipFill>
          <a:blip r:embed="rId3"/>
          <a:stretch>
            <a:fillRect/>
          </a:stretch>
        </p:blipFill>
        <p:spPr>
          <a:xfrm>
            <a:off x="10479024" y="1330452"/>
            <a:ext cx="256032" cy="256032"/>
          </a:xfrm>
          <a:prstGeom prst="rect">
            <a:avLst/>
          </a:prstGeom>
        </p:spPr>
      </p:pic>
      <p:sp>
        <p:nvSpPr>
          <p:cNvPr id="16" name="Text 13"/>
          <p:cNvSpPr/>
          <p:nvPr/>
        </p:nvSpPr>
        <p:spPr>
          <a:xfrm>
            <a:off x="822960" y="2651760"/>
            <a:ext cx="10515600" cy="457200"/>
          </a:xfrm>
          <a:prstGeom prst="rect">
            <a:avLst/>
          </a:prstGeom>
          <a:noFill/>
          <a:ln/>
        </p:spPr>
        <p:txBody>
          <a:bodyPr wrap="square" rtlCol="0" anchor="ctr"/>
          <a:lstStyle/>
          <a:p>
            <a:pPr marL="0" indent="0">
              <a:buNone/>
            </a:pPr>
            <a:r>
              <a:rPr lang="en-US" sz="1500" b="1" kern="0" spc="250" dirty="0">
                <a:solidFill>
                  <a:srgbClr val="E8A33D"/>
                </a:solidFill>
                <a:latin typeface="Calibri" pitchFamily="34" charset="0"/>
                <a:ea typeface="Calibri" pitchFamily="34" charset="-122"/>
                <a:cs typeface="Calibri" pitchFamily="34" charset="-120"/>
              </a:rPr>
              <a:t>GLOBALMART SUPPLY CHAIN</a:t>
            </a:r>
            <a:endParaRPr lang="en-US" sz="1500" dirty="0"/>
          </a:p>
        </p:txBody>
      </p:sp>
      <p:sp>
        <p:nvSpPr>
          <p:cNvPr id="17" name="Text 14"/>
          <p:cNvSpPr/>
          <p:nvPr/>
        </p:nvSpPr>
        <p:spPr>
          <a:xfrm>
            <a:off x="777240" y="3063240"/>
            <a:ext cx="10515600" cy="118872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Supply Chain Analytics Hub</a:t>
            </a:r>
            <a:endParaRPr lang="en-US" sz="4600" dirty="0"/>
          </a:p>
        </p:txBody>
      </p:sp>
      <p:sp>
        <p:nvSpPr>
          <p:cNvPr id="18" name="Text 15"/>
          <p:cNvSpPr/>
          <p:nvPr/>
        </p:nvSpPr>
        <p:spPr>
          <a:xfrm>
            <a:off x="822960" y="3977640"/>
            <a:ext cx="9601200" cy="457200"/>
          </a:xfrm>
          <a:prstGeom prst="rect">
            <a:avLst/>
          </a:prstGeom>
          <a:noFill/>
          <a:ln/>
        </p:spPr>
        <p:txBody>
          <a:bodyPr wrap="square" rtlCol="0" anchor="ctr"/>
          <a:lstStyle/>
          <a:p>
            <a:pPr marL="0" indent="0">
              <a:buNone/>
            </a:pPr>
            <a:r>
              <a:rPr lang="en-US" sz="1600" i="1" dirty="0">
                <a:solidFill>
                  <a:srgbClr val="C9D3E0"/>
                </a:solidFill>
                <a:latin typeface="Calibri" pitchFamily="34" charset="0"/>
                <a:ea typeface="Calibri" pitchFamily="34" charset="-122"/>
                <a:cs typeface="Calibri" pitchFamily="34" charset="-120"/>
              </a:rPr>
              <a:t>Turning raw sales and logistics data into decisions leadership can act on</a:t>
            </a:r>
            <a:endParaRPr lang="en-US" sz="1600" dirty="0"/>
          </a:p>
        </p:txBody>
      </p:sp>
      <p:sp>
        <p:nvSpPr>
          <p:cNvPr id="19" name="Shape 16"/>
          <p:cNvSpPr/>
          <p:nvPr/>
        </p:nvSpPr>
        <p:spPr>
          <a:xfrm>
            <a:off x="822960" y="5989320"/>
            <a:ext cx="1005840" cy="0"/>
          </a:xfrm>
          <a:prstGeom prst="line">
            <a:avLst/>
          </a:prstGeom>
          <a:noFill/>
          <a:ln w="31750">
            <a:solidFill>
              <a:srgbClr val="E8A33D"/>
            </a:solidFill>
            <a:prstDash val="solid"/>
          </a:ln>
        </p:spPr>
      </p:sp>
      <p:sp>
        <p:nvSpPr>
          <p:cNvPr id="20" name="Text 17"/>
          <p:cNvSpPr/>
          <p:nvPr/>
        </p:nvSpPr>
        <p:spPr>
          <a:xfrm>
            <a:off x="822960" y="6053328"/>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Aleemat Agboola</a:t>
            </a:r>
            <a:endParaRPr lang="en-US" sz="1600" dirty="0"/>
          </a:p>
        </p:txBody>
      </p:sp>
      <p:sp>
        <p:nvSpPr>
          <p:cNvPr id="21" name="Text 18"/>
          <p:cNvSpPr/>
          <p:nvPr/>
        </p:nvSpPr>
        <p:spPr>
          <a:xfrm>
            <a:off x="822960" y="6382512"/>
            <a:ext cx="5486400" cy="292608"/>
          </a:xfrm>
          <a:prstGeom prst="rect">
            <a:avLst/>
          </a:prstGeom>
          <a:noFill/>
          <a:ln/>
        </p:spPr>
        <p:txBody>
          <a:bodyPr wrap="square" rtlCol="0" anchor="ctr"/>
          <a:lstStyle/>
          <a:p>
            <a:pPr marL="0" indent="0">
              <a:buNone/>
            </a:pPr>
            <a:r>
              <a:rPr lang="en-US" sz="1150" dirty="0">
                <a:solidFill>
                  <a:srgbClr val="9FADC2"/>
                </a:solidFill>
                <a:latin typeface="Calibri" pitchFamily="34" charset="0"/>
                <a:ea typeface="Calibri" pitchFamily="34" charset="-122"/>
                <a:cs typeface="Calibri" pitchFamily="34" charset="-120"/>
              </a:rPr>
              <a:t>Data Analytics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problem.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THE CHALLENGE</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Business Problem Overview</a:t>
            </a:r>
            <a:endParaRPr lang="en-US" sz="2600" dirty="0"/>
          </a:p>
        </p:txBody>
      </p:sp>
      <p:sp>
        <p:nvSpPr>
          <p:cNvPr id="6" name="Text 3"/>
          <p:cNvSpPr/>
          <p:nvPr/>
        </p:nvSpPr>
        <p:spPr>
          <a:xfrm>
            <a:off x="548640" y="1234440"/>
            <a:ext cx="10881360" cy="777240"/>
          </a:xfrm>
          <a:prstGeom prst="rect">
            <a:avLst/>
          </a:prstGeom>
          <a:noFill/>
          <a:ln/>
        </p:spPr>
        <p:txBody>
          <a:bodyPr wrap="square" rtlCol="0" anchor="ctr"/>
          <a:lstStyle/>
          <a:p>
            <a:pPr marL="0" indent="0">
              <a:lnSpc>
                <a:spcPts val="2100"/>
              </a:lnSpc>
              <a:buNone/>
            </a:pPr>
            <a:r>
              <a:rPr lang="en-US" sz="1450" dirty="0">
                <a:solidFill>
                  <a:srgbClr val="1B2430"/>
                </a:solidFill>
                <a:latin typeface="Calibri" pitchFamily="34" charset="0"/>
                <a:ea typeface="Calibri" pitchFamily="34" charset="-122"/>
                <a:cs typeface="Calibri" pitchFamily="34" charset="-120"/>
              </a:rPr>
              <a:t>GlobalMart's leadership team had years of sales and logistics data scattered across spreadsheets, but no simple way to turn it into answers. Before this project, questions that should have taken minutes to answer instead took days of manual digging.</a:t>
            </a:r>
            <a:endParaRPr lang="en-US" sz="1450" dirty="0"/>
          </a:p>
        </p:txBody>
      </p:sp>
      <p:sp>
        <p:nvSpPr>
          <p:cNvPr id="7" name="Shape 4"/>
          <p:cNvSpPr/>
          <p:nvPr/>
        </p:nvSpPr>
        <p:spPr>
          <a:xfrm>
            <a:off x="548640" y="2331720"/>
            <a:ext cx="5257800" cy="1965960"/>
          </a:xfrm>
          <a:prstGeom prst="roundRect">
            <a:avLst>
              <a:gd name="adj" fmla="val 4186"/>
            </a:avLst>
          </a:prstGeom>
          <a:solidFill>
            <a:srgbClr val="FFFFFF"/>
          </a:solidFill>
          <a:ln/>
          <a:effectLst>
            <a:outerShdw blurRad="101600" dist="25400" dir="5400000" algn="bl" rotWithShape="0">
              <a:srgbClr val="9AA5B1">
                <a:alpha val="25000"/>
              </a:srgbClr>
            </a:outerShdw>
          </a:effectLst>
        </p:spPr>
      </p:sp>
      <p:sp>
        <p:nvSpPr>
          <p:cNvPr id="8" name="Shape 5"/>
          <p:cNvSpPr/>
          <p:nvPr/>
        </p:nvSpPr>
        <p:spPr>
          <a:xfrm>
            <a:off x="822960" y="2606040"/>
            <a:ext cx="502920" cy="502920"/>
          </a:xfrm>
          <a:prstGeom prst="ellipse">
            <a:avLst/>
          </a:prstGeom>
          <a:solidFill>
            <a:srgbClr val="EAF0F8"/>
          </a:solidFill>
          <a:ln/>
        </p:spPr>
      </p:sp>
      <p:pic>
        <p:nvPicPr>
          <p:cNvPr id="9" name="Image 1" descr="icons/dollar.png"/>
          <p:cNvPicPr>
            <a:picLocks noChangeAspect="1"/>
          </p:cNvPicPr>
          <p:nvPr/>
        </p:nvPicPr>
        <p:blipFill>
          <a:blip r:embed="rId4"/>
          <a:stretch>
            <a:fillRect/>
          </a:stretch>
        </p:blipFill>
        <p:spPr>
          <a:xfrm>
            <a:off x="932688" y="2715768"/>
            <a:ext cx="283464" cy="283464"/>
          </a:xfrm>
          <a:prstGeom prst="rect">
            <a:avLst/>
          </a:prstGeom>
        </p:spPr>
      </p:pic>
      <p:sp>
        <p:nvSpPr>
          <p:cNvPr id="10" name="Text 6"/>
          <p:cNvSpPr/>
          <p:nvPr/>
        </p:nvSpPr>
        <p:spPr>
          <a:xfrm>
            <a:off x="1508760" y="2560320"/>
            <a:ext cx="4069080" cy="640080"/>
          </a:xfrm>
          <a:prstGeom prst="rect">
            <a:avLst/>
          </a:prstGeom>
          <a:noFill/>
          <a:ln/>
        </p:spPr>
        <p:txBody>
          <a:bodyPr wrap="square" rtlCol="0" anchor="ctr"/>
          <a:lstStyle/>
          <a:p>
            <a:pPr marL="0" indent="0">
              <a:lnSpc>
                <a:spcPts val="1700"/>
              </a:lnSpc>
              <a:buNone/>
            </a:pPr>
            <a:r>
              <a:rPr lang="en-US" sz="1450" b="1" dirty="0">
                <a:solidFill>
                  <a:srgbClr val="152238"/>
                </a:solidFill>
                <a:latin typeface="Cambria" pitchFamily="34" charset="0"/>
                <a:ea typeface="Cambria" pitchFamily="34" charset="-122"/>
                <a:cs typeface="Cambria" pitchFamily="34" charset="-120"/>
              </a:rPr>
              <a:t>Is the business actually profitable?</a:t>
            </a:r>
            <a:endParaRPr lang="en-US" sz="1450" dirty="0"/>
          </a:p>
        </p:txBody>
      </p:sp>
      <p:sp>
        <p:nvSpPr>
          <p:cNvPr id="11" name="Text 7"/>
          <p:cNvSpPr/>
          <p:nvPr/>
        </p:nvSpPr>
        <p:spPr>
          <a:xfrm>
            <a:off x="822960" y="3383280"/>
            <a:ext cx="470916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Revenue was tracked, but profit and margin by product and region weren't visible in one place.</a:t>
            </a:r>
            <a:endParaRPr lang="en-US" sz="1150" dirty="0"/>
          </a:p>
        </p:txBody>
      </p:sp>
      <p:sp>
        <p:nvSpPr>
          <p:cNvPr id="12" name="Shape 8"/>
          <p:cNvSpPr/>
          <p:nvPr/>
        </p:nvSpPr>
        <p:spPr>
          <a:xfrm>
            <a:off x="6172200" y="2331720"/>
            <a:ext cx="5257800" cy="1965960"/>
          </a:xfrm>
          <a:prstGeom prst="roundRect">
            <a:avLst>
              <a:gd name="adj" fmla="val 4186"/>
            </a:avLst>
          </a:prstGeom>
          <a:solidFill>
            <a:srgbClr val="FFFFFF"/>
          </a:solidFill>
          <a:ln/>
          <a:effectLst>
            <a:outerShdw blurRad="101600" dist="25400" dir="5400000" algn="bl" rotWithShape="0">
              <a:srgbClr val="9AA5B1">
                <a:alpha val="25000"/>
              </a:srgbClr>
            </a:outerShdw>
          </a:effectLst>
        </p:spPr>
      </p:sp>
      <p:sp>
        <p:nvSpPr>
          <p:cNvPr id="13" name="Shape 9"/>
          <p:cNvSpPr/>
          <p:nvPr/>
        </p:nvSpPr>
        <p:spPr>
          <a:xfrm>
            <a:off x="6446520" y="2606040"/>
            <a:ext cx="502920" cy="502920"/>
          </a:xfrm>
          <a:prstGeom prst="ellipse">
            <a:avLst/>
          </a:prstGeom>
          <a:solidFill>
            <a:srgbClr val="EAF0F8"/>
          </a:solidFill>
          <a:ln/>
        </p:spPr>
      </p:sp>
      <p:pic>
        <p:nvPicPr>
          <p:cNvPr id="14" name="Image 2" descr="icons/truck.png"/>
          <p:cNvPicPr>
            <a:picLocks noChangeAspect="1"/>
          </p:cNvPicPr>
          <p:nvPr/>
        </p:nvPicPr>
        <p:blipFill>
          <a:blip r:embed="rId5"/>
          <a:stretch>
            <a:fillRect/>
          </a:stretch>
        </p:blipFill>
        <p:spPr>
          <a:xfrm>
            <a:off x="6556248" y="2715768"/>
            <a:ext cx="283464" cy="283464"/>
          </a:xfrm>
          <a:prstGeom prst="rect">
            <a:avLst/>
          </a:prstGeom>
        </p:spPr>
      </p:pic>
      <p:sp>
        <p:nvSpPr>
          <p:cNvPr id="15" name="Text 10"/>
          <p:cNvSpPr/>
          <p:nvPr/>
        </p:nvSpPr>
        <p:spPr>
          <a:xfrm>
            <a:off x="7132320" y="2560320"/>
            <a:ext cx="4069080" cy="640080"/>
          </a:xfrm>
          <a:prstGeom prst="rect">
            <a:avLst/>
          </a:prstGeom>
          <a:noFill/>
          <a:ln/>
        </p:spPr>
        <p:txBody>
          <a:bodyPr wrap="square" rtlCol="0" anchor="ctr"/>
          <a:lstStyle/>
          <a:p>
            <a:pPr marL="0" indent="0">
              <a:lnSpc>
                <a:spcPts val="1700"/>
              </a:lnSpc>
              <a:buNone/>
            </a:pPr>
            <a:r>
              <a:rPr lang="en-US" sz="1450" b="1" dirty="0">
                <a:solidFill>
                  <a:srgbClr val="152238"/>
                </a:solidFill>
                <a:latin typeface="Cambria" pitchFamily="34" charset="0"/>
                <a:ea typeface="Cambria" pitchFamily="34" charset="-122"/>
                <a:cs typeface="Cambria" pitchFamily="34" charset="-120"/>
              </a:rPr>
              <a:t>Are customers getting their orders on time?</a:t>
            </a:r>
            <a:endParaRPr lang="en-US" sz="1450" dirty="0"/>
          </a:p>
        </p:txBody>
      </p:sp>
      <p:sp>
        <p:nvSpPr>
          <p:cNvPr id="16" name="Text 11"/>
          <p:cNvSpPr/>
          <p:nvPr/>
        </p:nvSpPr>
        <p:spPr>
          <a:xfrm>
            <a:off x="6446520" y="3383280"/>
            <a:ext cx="470916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Delivery delays were noticed anecdotally, but never measured supplier by supplier.</a:t>
            </a:r>
            <a:endParaRPr lang="en-US" sz="1150" dirty="0"/>
          </a:p>
        </p:txBody>
      </p:sp>
      <p:sp>
        <p:nvSpPr>
          <p:cNvPr id="17" name="Shape 12"/>
          <p:cNvSpPr/>
          <p:nvPr/>
        </p:nvSpPr>
        <p:spPr>
          <a:xfrm>
            <a:off x="548640" y="4617720"/>
            <a:ext cx="5257800" cy="1965960"/>
          </a:xfrm>
          <a:prstGeom prst="roundRect">
            <a:avLst>
              <a:gd name="adj" fmla="val 4186"/>
            </a:avLst>
          </a:prstGeom>
          <a:solidFill>
            <a:srgbClr val="FFFFFF"/>
          </a:solidFill>
          <a:ln/>
          <a:effectLst>
            <a:outerShdw blurRad="101600" dist="25400" dir="5400000" algn="bl" rotWithShape="0">
              <a:srgbClr val="9AA5B1">
                <a:alpha val="25000"/>
              </a:srgbClr>
            </a:outerShdw>
          </a:effectLst>
        </p:spPr>
      </p:sp>
      <p:sp>
        <p:nvSpPr>
          <p:cNvPr id="18" name="Shape 13"/>
          <p:cNvSpPr/>
          <p:nvPr/>
        </p:nvSpPr>
        <p:spPr>
          <a:xfrm>
            <a:off x="822960" y="4892040"/>
            <a:ext cx="502920" cy="502920"/>
          </a:xfrm>
          <a:prstGeom prst="ellipse">
            <a:avLst/>
          </a:prstGeom>
          <a:solidFill>
            <a:srgbClr val="EAF0F8"/>
          </a:solidFill>
          <a:ln/>
        </p:spPr>
      </p:sp>
      <p:pic>
        <p:nvPicPr>
          <p:cNvPr id="19" name="Image 3" descr="icons/box.png"/>
          <p:cNvPicPr>
            <a:picLocks noChangeAspect="1"/>
          </p:cNvPicPr>
          <p:nvPr/>
        </p:nvPicPr>
        <p:blipFill>
          <a:blip r:embed="rId6"/>
          <a:stretch>
            <a:fillRect/>
          </a:stretch>
        </p:blipFill>
        <p:spPr>
          <a:xfrm>
            <a:off x="932688" y="5001768"/>
            <a:ext cx="283464" cy="283464"/>
          </a:xfrm>
          <a:prstGeom prst="rect">
            <a:avLst/>
          </a:prstGeom>
        </p:spPr>
      </p:pic>
      <p:sp>
        <p:nvSpPr>
          <p:cNvPr id="20" name="Text 14"/>
          <p:cNvSpPr/>
          <p:nvPr/>
        </p:nvSpPr>
        <p:spPr>
          <a:xfrm>
            <a:off x="1508760" y="4846320"/>
            <a:ext cx="4069080" cy="640080"/>
          </a:xfrm>
          <a:prstGeom prst="rect">
            <a:avLst/>
          </a:prstGeom>
          <a:noFill/>
          <a:ln/>
        </p:spPr>
        <p:txBody>
          <a:bodyPr wrap="square" rtlCol="0" anchor="ctr"/>
          <a:lstStyle/>
          <a:p>
            <a:pPr marL="0" indent="0">
              <a:lnSpc>
                <a:spcPts val="1700"/>
              </a:lnSpc>
              <a:buNone/>
            </a:pPr>
            <a:r>
              <a:rPr lang="en-US" sz="1450" b="1" dirty="0">
                <a:solidFill>
                  <a:srgbClr val="152238"/>
                </a:solidFill>
                <a:latin typeface="Cambria" pitchFamily="34" charset="0"/>
                <a:ea typeface="Cambria" pitchFamily="34" charset="-122"/>
                <a:cs typeface="Cambria" pitchFamily="34" charset="-120"/>
              </a:rPr>
              <a:t>Is too much or too little stock sitting in the warehouse?</a:t>
            </a:r>
            <a:endParaRPr lang="en-US" sz="1450" dirty="0"/>
          </a:p>
        </p:txBody>
      </p:sp>
      <p:sp>
        <p:nvSpPr>
          <p:cNvPr id="21" name="Text 15"/>
          <p:cNvSpPr/>
          <p:nvPr/>
        </p:nvSpPr>
        <p:spPr>
          <a:xfrm>
            <a:off x="822960" y="5669280"/>
            <a:ext cx="470916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Stock levels and order volume lived in separate systems with no side-by-side view.</a:t>
            </a:r>
            <a:endParaRPr lang="en-US" sz="1150" dirty="0"/>
          </a:p>
        </p:txBody>
      </p:sp>
      <p:sp>
        <p:nvSpPr>
          <p:cNvPr id="22" name="Shape 16"/>
          <p:cNvSpPr/>
          <p:nvPr/>
        </p:nvSpPr>
        <p:spPr>
          <a:xfrm>
            <a:off x="6172200" y="4617720"/>
            <a:ext cx="5257800" cy="1965960"/>
          </a:xfrm>
          <a:prstGeom prst="roundRect">
            <a:avLst>
              <a:gd name="adj" fmla="val 4186"/>
            </a:avLst>
          </a:prstGeom>
          <a:solidFill>
            <a:srgbClr val="FFFFFF"/>
          </a:solidFill>
          <a:ln/>
          <a:effectLst>
            <a:outerShdw blurRad="101600" dist="25400" dir="5400000" algn="bl" rotWithShape="0">
              <a:srgbClr val="9AA5B1">
                <a:alpha val="25000"/>
              </a:srgbClr>
            </a:outerShdw>
          </a:effectLst>
        </p:spPr>
      </p:sp>
      <p:sp>
        <p:nvSpPr>
          <p:cNvPr id="23" name="Shape 17"/>
          <p:cNvSpPr/>
          <p:nvPr/>
        </p:nvSpPr>
        <p:spPr>
          <a:xfrm>
            <a:off x="6446520" y="4892040"/>
            <a:ext cx="502920" cy="502920"/>
          </a:xfrm>
          <a:prstGeom prst="ellipse">
            <a:avLst/>
          </a:prstGeom>
          <a:solidFill>
            <a:srgbClr val="EAF0F8"/>
          </a:solidFill>
          <a:ln/>
        </p:spPr>
      </p:sp>
      <p:pic>
        <p:nvPicPr>
          <p:cNvPr id="24" name="Image 4" descr="icons/target.png"/>
          <p:cNvPicPr>
            <a:picLocks noChangeAspect="1"/>
          </p:cNvPicPr>
          <p:nvPr/>
        </p:nvPicPr>
        <p:blipFill>
          <a:blip r:embed="rId7"/>
          <a:stretch>
            <a:fillRect/>
          </a:stretch>
        </p:blipFill>
        <p:spPr>
          <a:xfrm>
            <a:off x="6556248" y="5001768"/>
            <a:ext cx="283464" cy="283464"/>
          </a:xfrm>
          <a:prstGeom prst="rect">
            <a:avLst/>
          </a:prstGeom>
        </p:spPr>
      </p:pic>
      <p:sp>
        <p:nvSpPr>
          <p:cNvPr id="25" name="Text 18"/>
          <p:cNvSpPr/>
          <p:nvPr/>
        </p:nvSpPr>
        <p:spPr>
          <a:xfrm>
            <a:off x="7132320" y="4846320"/>
            <a:ext cx="4069080" cy="640080"/>
          </a:xfrm>
          <a:prstGeom prst="rect">
            <a:avLst/>
          </a:prstGeom>
          <a:noFill/>
          <a:ln/>
        </p:spPr>
        <p:txBody>
          <a:bodyPr wrap="square" rtlCol="0" anchor="ctr"/>
          <a:lstStyle/>
          <a:p>
            <a:pPr marL="0" indent="0">
              <a:lnSpc>
                <a:spcPts val="1700"/>
              </a:lnSpc>
              <a:buNone/>
            </a:pPr>
            <a:r>
              <a:rPr lang="en-US" sz="1450" b="1" dirty="0">
                <a:solidFill>
                  <a:srgbClr val="152238"/>
                </a:solidFill>
                <a:latin typeface="Cambria" pitchFamily="34" charset="0"/>
                <a:ea typeface="Cambria" pitchFamily="34" charset="-122"/>
                <a:cs typeface="Cambria" pitchFamily="34" charset="-120"/>
              </a:rPr>
              <a:t>Where should leadership focus improvement efforts first?</a:t>
            </a:r>
            <a:endParaRPr lang="en-US" sz="1450" dirty="0"/>
          </a:p>
        </p:txBody>
      </p:sp>
      <p:sp>
        <p:nvSpPr>
          <p:cNvPr id="26" name="Text 19"/>
          <p:cNvSpPr/>
          <p:nvPr/>
        </p:nvSpPr>
        <p:spPr>
          <a:xfrm>
            <a:off x="6446520" y="5669280"/>
            <a:ext cx="4709160" cy="777240"/>
          </a:xfrm>
          <a:prstGeom prst="rect">
            <a:avLst/>
          </a:prstGeom>
          <a:noFill/>
          <a:ln/>
        </p:spPr>
        <p:txBody>
          <a:bodyPr wrap="square" rtlCol="0" anchor="ctr"/>
          <a:lstStyle/>
          <a:p>
            <a:pPr marL="0" indent="0">
              <a:lnSpc>
                <a:spcPts val="1500"/>
              </a:lnSpc>
              <a:buNone/>
            </a:pPr>
            <a:r>
              <a:rPr lang="en-US" sz="1150" dirty="0">
                <a:solidFill>
                  <a:srgbClr val="5B6B7C"/>
                </a:solidFill>
                <a:latin typeface="Calibri" pitchFamily="34" charset="0"/>
                <a:ea typeface="Calibri" pitchFamily="34" charset="-122"/>
                <a:cs typeface="Calibri" pitchFamily="34" charset="-120"/>
              </a:rPr>
              <a:t>Without clean data, it was impossible to tell which problems mattered most.</a:t>
            </a:r>
            <a:endParaRPr lang="en-US" sz="1150" dirty="0"/>
          </a:p>
        </p:txBody>
      </p:sp>
      <p:sp>
        <p:nvSpPr>
          <p:cNvPr id="27" name="Text 20"/>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GlobalMart Supply Chain Analytics</a:t>
            </a:r>
            <a:endParaRPr lang="en-US" sz="900" dirty="0"/>
          </a:p>
        </p:txBody>
      </p:sp>
      <p:sp>
        <p:nvSpPr>
          <p:cNvPr id="28" name="Text 21"/>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flow.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HOW THIS WAS BUILT</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Methodology: From Raw Data to Insight</a:t>
            </a:r>
            <a:endParaRPr lang="en-US" sz="2600" dirty="0"/>
          </a:p>
        </p:txBody>
      </p:sp>
      <p:sp>
        <p:nvSpPr>
          <p:cNvPr id="6" name="Text 3"/>
          <p:cNvSpPr/>
          <p:nvPr/>
        </p:nvSpPr>
        <p:spPr>
          <a:xfrm>
            <a:off x="548640" y="1234440"/>
            <a:ext cx="10881360" cy="50292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The project followed a straightforward path — clean the data first, build a reliable model, then design dashboards that make the story obvious at a glance.</a:t>
            </a:r>
            <a:endParaRPr lang="en-US" sz="1450" dirty="0"/>
          </a:p>
        </p:txBody>
      </p:sp>
      <p:sp>
        <p:nvSpPr>
          <p:cNvPr id="7" name="Shape 4"/>
          <p:cNvSpPr/>
          <p:nvPr/>
        </p:nvSpPr>
        <p:spPr>
          <a:xfrm>
            <a:off x="548640" y="2148840"/>
            <a:ext cx="3337560" cy="3383280"/>
          </a:xfrm>
          <a:prstGeom prst="roundRect">
            <a:avLst>
              <a:gd name="adj" fmla="val 2466"/>
            </a:avLst>
          </a:prstGeom>
          <a:solidFill>
            <a:srgbClr val="FFFFFF"/>
          </a:solidFill>
          <a:ln/>
          <a:effectLst>
            <a:outerShdw blurRad="101600" dist="25400" dir="5400000" algn="bl" rotWithShape="0">
              <a:srgbClr val="9AA5B1">
                <a:alpha val="25000"/>
              </a:srgbClr>
            </a:outerShdw>
          </a:effectLst>
        </p:spPr>
      </p:sp>
      <p:sp>
        <p:nvSpPr>
          <p:cNvPr id="8" name="Shape 5"/>
          <p:cNvSpPr/>
          <p:nvPr/>
        </p:nvSpPr>
        <p:spPr>
          <a:xfrm>
            <a:off x="548640" y="2148840"/>
            <a:ext cx="3337560" cy="109728"/>
          </a:xfrm>
          <a:prstGeom prst="roundRect">
            <a:avLst>
              <a:gd name="adj" fmla="val 50000"/>
            </a:avLst>
          </a:prstGeom>
          <a:solidFill>
            <a:srgbClr val="3B5D82"/>
          </a:solidFill>
          <a:ln/>
        </p:spPr>
      </p:sp>
      <p:sp>
        <p:nvSpPr>
          <p:cNvPr id="9" name="Shape 6"/>
          <p:cNvSpPr/>
          <p:nvPr/>
        </p:nvSpPr>
        <p:spPr>
          <a:xfrm>
            <a:off x="868680" y="2560320"/>
            <a:ext cx="640080" cy="640080"/>
          </a:xfrm>
          <a:prstGeom prst="ellipse">
            <a:avLst/>
          </a:prstGeom>
          <a:solidFill>
            <a:srgbClr val="152238"/>
          </a:solidFill>
          <a:ln/>
        </p:spPr>
      </p:sp>
      <p:pic>
        <p:nvPicPr>
          <p:cNvPr id="10" name="Image 1" descr="icons/file.png"/>
          <p:cNvPicPr>
            <a:picLocks noChangeAspect="1"/>
          </p:cNvPicPr>
          <p:nvPr/>
        </p:nvPicPr>
        <p:blipFill>
          <a:blip r:embed="rId4"/>
          <a:stretch>
            <a:fillRect/>
          </a:stretch>
        </p:blipFill>
        <p:spPr>
          <a:xfrm>
            <a:off x="1014984" y="2706624"/>
            <a:ext cx="347472" cy="347472"/>
          </a:xfrm>
          <a:prstGeom prst="rect">
            <a:avLst/>
          </a:prstGeom>
        </p:spPr>
      </p:pic>
      <p:sp>
        <p:nvSpPr>
          <p:cNvPr id="11" name="Text 7"/>
          <p:cNvSpPr/>
          <p:nvPr/>
        </p:nvSpPr>
        <p:spPr>
          <a:xfrm>
            <a:off x="868680" y="3383280"/>
            <a:ext cx="2697480" cy="502920"/>
          </a:xfrm>
          <a:prstGeom prst="rect">
            <a:avLst/>
          </a:prstGeom>
          <a:noFill/>
          <a:ln/>
        </p:spPr>
        <p:txBody>
          <a:bodyPr wrap="square" rtlCol="0" anchor="ctr"/>
          <a:lstStyle/>
          <a:p>
            <a:pPr marL="0" indent="0">
              <a:buNone/>
            </a:pPr>
            <a:r>
              <a:rPr lang="en-US" sz="1600" b="1" dirty="0">
                <a:solidFill>
                  <a:srgbClr val="152238"/>
                </a:solidFill>
                <a:latin typeface="Cambria" pitchFamily="34" charset="0"/>
                <a:ea typeface="Cambria" pitchFamily="34" charset="-122"/>
                <a:cs typeface="Cambria" pitchFamily="34" charset="-120"/>
              </a:rPr>
              <a:t>1. Excel &amp; Raw Data</a:t>
            </a:r>
            <a:endParaRPr lang="en-US" sz="1600" dirty="0"/>
          </a:p>
        </p:txBody>
      </p:sp>
      <p:sp>
        <p:nvSpPr>
          <p:cNvPr id="12" name="Text 8"/>
          <p:cNvSpPr/>
          <p:nvPr/>
        </p:nvSpPr>
        <p:spPr>
          <a:xfrm>
            <a:off x="868680" y="3931920"/>
            <a:ext cx="2697480" cy="1417320"/>
          </a:xfrm>
          <a:prstGeom prst="rect">
            <a:avLst/>
          </a:prstGeom>
          <a:noFill/>
          <a:ln/>
        </p:spPr>
        <p:txBody>
          <a:bodyPr wrap="square" rtlCol="0" anchor="ctr"/>
          <a:lstStyle/>
          <a:p>
            <a:pPr marL="0" indent="0">
              <a:lnSpc>
                <a:spcPts val="1600"/>
              </a:lnSpc>
              <a:buNone/>
            </a:pPr>
            <a:r>
              <a:rPr lang="en-US" sz="1200" dirty="0">
                <a:solidFill>
                  <a:srgbClr val="5B6B7C"/>
                </a:solidFill>
                <a:latin typeface="Calibri" pitchFamily="34" charset="0"/>
                <a:ea typeface="Calibri" pitchFamily="34" charset="-122"/>
                <a:cs typeface="Calibri" pitchFamily="34" charset="-120"/>
              </a:rPr>
              <a:t>Sales, supplier, and shipping records started out messy — mixed date formats, inconsistent supplier names, and unreliable numbers.</a:t>
            </a:r>
            <a:endParaRPr lang="en-US" sz="1200" dirty="0"/>
          </a:p>
        </p:txBody>
      </p:sp>
      <p:sp>
        <p:nvSpPr>
          <p:cNvPr id="13" name="Shape 9"/>
          <p:cNvSpPr/>
          <p:nvPr/>
        </p:nvSpPr>
        <p:spPr>
          <a:xfrm>
            <a:off x="3904488" y="3657600"/>
            <a:ext cx="365760" cy="365760"/>
          </a:xfrm>
          <a:prstGeom prst="ellipse">
            <a:avLst/>
          </a:prstGeom>
          <a:solidFill>
            <a:srgbClr val="FFFFFF"/>
          </a:solidFill>
          <a:ln/>
        </p:spPr>
      </p:sp>
      <p:pic>
        <p:nvPicPr>
          <p:cNvPr id="14" name="Image 2" descr="icons/arrow-right.png"/>
          <p:cNvPicPr>
            <a:picLocks noChangeAspect="1"/>
          </p:cNvPicPr>
          <p:nvPr/>
        </p:nvPicPr>
        <p:blipFill>
          <a:blip r:embed="rId5"/>
          <a:stretch>
            <a:fillRect/>
          </a:stretch>
        </p:blipFill>
        <p:spPr>
          <a:xfrm>
            <a:off x="3959352" y="3712464"/>
            <a:ext cx="256032" cy="256032"/>
          </a:xfrm>
          <a:prstGeom prst="rect">
            <a:avLst/>
          </a:prstGeom>
        </p:spPr>
      </p:pic>
      <p:sp>
        <p:nvSpPr>
          <p:cNvPr id="15" name="Shape 10"/>
          <p:cNvSpPr/>
          <p:nvPr/>
        </p:nvSpPr>
        <p:spPr>
          <a:xfrm>
            <a:off x="4251960" y="2148840"/>
            <a:ext cx="3337560" cy="3383280"/>
          </a:xfrm>
          <a:prstGeom prst="roundRect">
            <a:avLst>
              <a:gd name="adj" fmla="val 2466"/>
            </a:avLst>
          </a:prstGeom>
          <a:solidFill>
            <a:srgbClr val="FFFFFF"/>
          </a:solidFill>
          <a:ln/>
          <a:effectLst>
            <a:outerShdw blurRad="101600" dist="25400" dir="5400000" algn="bl" rotWithShape="0">
              <a:srgbClr val="9AA5B1">
                <a:alpha val="25000"/>
              </a:srgbClr>
            </a:outerShdw>
          </a:effectLst>
        </p:spPr>
      </p:sp>
      <p:sp>
        <p:nvSpPr>
          <p:cNvPr id="16" name="Shape 11"/>
          <p:cNvSpPr/>
          <p:nvPr/>
        </p:nvSpPr>
        <p:spPr>
          <a:xfrm>
            <a:off x="4251960" y="2148840"/>
            <a:ext cx="3337560" cy="109728"/>
          </a:xfrm>
          <a:prstGeom prst="roundRect">
            <a:avLst>
              <a:gd name="adj" fmla="val 50000"/>
            </a:avLst>
          </a:prstGeom>
          <a:solidFill>
            <a:srgbClr val="3B5D82"/>
          </a:solidFill>
          <a:ln/>
        </p:spPr>
      </p:sp>
      <p:sp>
        <p:nvSpPr>
          <p:cNvPr id="17" name="Shape 12"/>
          <p:cNvSpPr/>
          <p:nvPr/>
        </p:nvSpPr>
        <p:spPr>
          <a:xfrm>
            <a:off x="4572000" y="2560320"/>
            <a:ext cx="640080" cy="640080"/>
          </a:xfrm>
          <a:prstGeom prst="ellipse">
            <a:avLst/>
          </a:prstGeom>
          <a:solidFill>
            <a:srgbClr val="152238"/>
          </a:solidFill>
          <a:ln/>
        </p:spPr>
      </p:sp>
      <p:pic>
        <p:nvPicPr>
          <p:cNvPr id="18" name="Image 3" descr="icons/tool.png"/>
          <p:cNvPicPr>
            <a:picLocks noChangeAspect="1"/>
          </p:cNvPicPr>
          <p:nvPr/>
        </p:nvPicPr>
        <p:blipFill>
          <a:blip r:embed="rId6"/>
          <a:stretch>
            <a:fillRect/>
          </a:stretch>
        </p:blipFill>
        <p:spPr>
          <a:xfrm>
            <a:off x="4718304" y="2706624"/>
            <a:ext cx="347472" cy="347472"/>
          </a:xfrm>
          <a:prstGeom prst="rect">
            <a:avLst/>
          </a:prstGeom>
        </p:spPr>
      </p:pic>
      <p:sp>
        <p:nvSpPr>
          <p:cNvPr id="19" name="Text 13"/>
          <p:cNvSpPr/>
          <p:nvPr/>
        </p:nvSpPr>
        <p:spPr>
          <a:xfrm>
            <a:off x="4572000" y="3383280"/>
            <a:ext cx="2697480" cy="502920"/>
          </a:xfrm>
          <a:prstGeom prst="rect">
            <a:avLst/>
          </a:prstGeom>
          <a:noFill/>
          <a:ln/>
        </p:spPr>
        <p:txBody>
          <a:bodyPr wrap="square" rtlCol="0" anchor="ctr"/>
          <a:lstStyle/>
          <a:p>
            <a:pPr marL="0" indent="0">
              <a:buNone/>
            </a:pPr>
            <a:r>
              <a:rPr lang="en-US" sz="1600" b="1" dirty="0">
                <a:solidFill>
                  <a:srgbClr val="152238"/>
                </a:solidFill>
                <a:latin typeface="Cambria" pitchFamily="34" charset="0"/>
                <a:ea typeface="Cambria" pitchFamily="34" charset="-122"/>
                <a:cs typeface="Cambria" pitchFamily="34" charset="-120"/>
              </a:rPr>
              <a:t>2. Power BI &amp; Power Query</a:t>
            </a:r>
            <a:endParaRPr lang="en-US" sz="1600" dirty="0"/>
          </a:p>
        </p:txBody>
      </p:sp>
      <p:sp>
        <p:nvSpPr>
          <p:cNvPr id="20" name="Text 14"/>
          <p:cNvSpPr/>
          <p:nvPr/>
        </p:nvSpPr>
        <p:spPr>
          <a:xfrm>
            <a:off x="4572000" y="3931920"/>
            <a:ext cx="2697480" cy="1417320"/>
          </a:xfrm>
          <a:prstGeom prst="rect">
            <a:avLst/>
          </a:prstGeom>
          <a:noFill/>
          <a:ln/>
        </p:spPr>
        <p:txBody>
          <a:bodyPr wrap="square" rtlCol="0" anchor="ctr"/>
          <a:lstStyle/>
          <a:p>
            <a:pPr marL="0" indent="0">
              <a:lnSpc>
                <a:spcPts val="1600"/>
              </a:lnSpc>
              <a:buNone/>
            </a:pPr>
            <a:r>
              <a:rPr lang="en-US" sz="1200" dirty="0">
                <a:solidFill>
                  <a:srgbClr val="5B6B7C"/>
                </a:solidFill>
                <a:latin typeface="Calibri" pitchFamily="34" charset="0"/>
                <a:ea typeface="Calibri" pitchFamily="34" charset="-122"/>
                <a:cs typeface="Calibri" pitchFamily="34" charset="-120"/>
              </a:rPr>
              <a:t>Data was cleaned and standardized, then modeled with custom DAX measures for revenue, delivery, and quality metrics.</a:t>
            </a:r>
            <a:endParaRPr lang="en-US" sz="1200" dirty="0"/>
          </a:p>
        </p:txBody>
      </p:sp>
      <p:sp>
        <p:nvSpPr>
          <p:cNvPr id="21" name="Shape 15"/>
          <p:cNvSpPr/>
          <p:nvPr/>
        </p:nvSpPr>
        <p:spPr>
          <a:xfrm>
            <a:off x="7607808" y="3657600"/>
            <a:ext cx="365760" cy="365760"/>
          </a:xfrm>
          <a:prstGeom prst="ellipse">
            <a:avLst/>
          </a:prstGeom>
          <a:solidFill>
            <a:srgbClr val="FFFFFF"/>
          </a:solidFill>
          <a:ln/>
        </p:spPr>
      </p:sp>
      <p:pic>
        <p:nvPicPr>
          <p:cNvPr id="22" name="Image 4" descr="icons/arrow-right.png"/>
          <p:cNvPicPr>
            <a:picLocks noChangeAspect="1"/>
          </p:cNvPicPr>
          <p:nvPr/>
        </p:nvPicPr>
        <p:blipFill>
          <a:blip r:embed="rId5"/>
          <a:stretch>
            <a:fillRect/>
          </a:stretch>
        </p:blipFill>
        <p:spPr>
          <a:xfrm>
            <a:off x="7662672" y="3712464"/>
            <a:ext cx="256032" cy="256032"/>
          </a:xfrm>
          <a:prstGeom prst="rect">
            <a:avLst/>
          </a:prstGeom>
        </p:spPr>
      </p:pic>
      <p:sp>
        <p:nvSpPr>
          <p:cNvPr id="23" name="Shape 16"/>
          <p:cNvSpPr/>
          <p:nvPr/>
        </p:nvSpPr>
        <p:spPr>
          <a:xfrm>
            <a:off x="7955280" y="2148840"/>
            <a:ext cx="3337560" cy="3383280"/>
          </a:xfrm>
          <a:prstGeom prst="roundRect">
            <a:avLst>
              <a:gd name="adj" fmla="val 2466"/>
            </a:avLst>
          </a:prstGeom>
          <a:solidFill>
            <a:srgbClr val="FFFFFF"/>
          </a:solidFill>
          <a:ln/>
          <a:effectLst>
            <a:outerShdw blurRad="101600" dist="25400" dir="5400000" algn="bl" rotWithShape="0">
              <a:srgbClr val="9AA5B1">
                <a:alpha val="25000"/>
              </a:srgbClr>
            </a:outerShdw>
          </a:effectLst>
        </p:spPr>
      </p:sp>
      <p:sp>
        <p:nvSpPr>
          <p:cNvPr id="24" name="Shape 17"/>
          <p:cNvSpPr/>
          <p:nvPr/>
        </p:nvSpPr>
        <p:spPr>
          <a:xfrm>
            <a:off x="7955280" y="2148840"/>
            <a:ext cx="3337560" cy="109728"/>
          </a:xfrm>
          <a:prstGeom prst="roundRect">
            <a:avLst>
              <a:gd name="adj" fmla="val 50000"/>
            </a:avLst>
          </a:prstGeom>
          <a:solidFill>
            <a:srgbClr val="E8A33D"/>
          </a:solidFill>
          <a:ln/>
        </p:spPr>
      </p:sp>
      <p:sp>
        <p:nvSpPr>
          <p:cNvPr id="25" name="Shape 18"/>
          <p:cNvSpPr/>
          <p:nvPr/>
        </p:nvSpPr>
        <p:spPr>
          <a:xfrm>
            <a:off x="8275320" y="2560320"/>
            <a:ext cx="640080" cy="640080"/>
          </a:xfrm>
          <a:prstGeom prst="ellipse">
            <a:avLst/>
          </a:prstGeom>
          <a:solidFill>
            <a:srgbClr val="152238"/>
          </a:solidFill>
          <a:ln/>
        </p:spPr>
      </p:sp>
      <p:pic>
        <p:nvPicPr>
          <p:cNvPr id="26" name="Image 5" descr="icons/trend.png"/>
          <p:cNvPicPr>
            <a:picLocks noChangeAspect="1"/>
          </p:cNvPicPr>
          <p:nvPr/>
        </p:nvPicPr>
        <p:blipFill>
          <a:blip r:embed="rId7"/>
          <a:stretch>
            <a:fillRect/>
          </a:stretch>
        </p:blipFill>
        <p:spPr>
          <a:xfrm>
            <a:off x="8421624" y="2706624"/>
            <a:ext cx="347472" cy="347472"/>
          </a:xfrm>
          <a:prstGeom prst="rect">
            <a:avLst/>
          </a:prstGeom>
        </p:spPr>
      </p:pic>
      <p:sp>
        <p:nvSpPr>
          <p:cNvPr id="27" name="Text 19"/>
          <p:cNvSpPr/>
          <p:nvPr/>
        </p:nvSpPr>
        <p:spPr>
          <a:xfrm>
            <a:off x="8275320" y="3383280"/>
            <a:ext cx="2697480" cy="502920"/>
          </a:xfrm>
          <a:prstGeom prst="rect">
            <a:avLst/>
          </a:prstGeom>
          <a:noFill/>
          <a:ln/>
        </p:spPr>
        <p:txBody>
          <a:bodyPr wrap="square" rtlCol="0" anchor="ctr"/>
          <a:lstStyle/>
          <a:p>
            <a:pPr marL="0" indent="0">
              <a:buNone/>
            </a:pPr>
            <a:r>
              <a:rPr lang="en-US" sz="1600" b="1" dirty="0">
                <a:solidFill>
                  <a:srgbClr val="152238"/>
                </a:solidFill>
                <a:latin typeface="Cambria" pitchFamily="34" charset="0"/>
                <a:ea typeface="Cambria" pitchFamily="34" charset="-122"/>
                <a:cs typeface="Cambria" pitchFamily="34" charset="-120"/>
              </a:rPr>
              <a:t>3. Dashboards &amp; Insights</a:t>
            </a:r>
            <a:endParaRPr lang="en-US" sz="1600" dirty="0"/>
          </a:p>
        </p:txBody>
      </p:sp>
      <p:sp>
        <p:nvSpPr>
          <p:cNvPr id="28" name="Text 20"/>
          <p:cNvSpPr/>
          <p:nvPr/>
        </p:nvSpPr>
        <p:spPr>
          <a:xfrm>
            <a:off x="8275320" y="3931920"/>
            <a:ext cx="2697480" cy="1417320"/>
          </a:xfrm>
          <a:prstGeom prst="rect">
            <a:avLst/>
          </a:prstGeom>
          <a:noFill/>
          <a:ln/>
        </p:spPr>
        <p:txBody>
          <a:bodyPr wrap="square" rtlCol="0" anchor="ctr"/>
          <a:lstStyle/>
          <a:p>
            <a:pPr marL="0" indent="0">
              <a:lnSpc>
                <a:spcPts val="1600"/>
              </a:lnSpc>
              <a:buNone/>
            </a:pPr>
            <a:r>
              <a:rPr lang="en-US" sz="1200" dirty="0">
                <a:solidFill>
                  <a:srgbClr val="5B6B7C"/>
                </a:solidFill>
                <a:latin typeface="Calibri" pitchFamily="34" charset="0"/>
                <a:ea typeface="Calibri" pitchFamily="34" charset="-122"/>
                <a:cs typeface="Calibri" pitchFamily="34" charset="-120"/>
              </a:rPr>
              <a:t>Two interactive dashboards turned that clean data into a story leadership can explore, filter, and act on.</a:t>
            </a:r>
            <a:endParaRPr lang="en-US" sz="1200" dirty="0"/>
          </a:p>
        </p:txBody>
      </p:sp>
      <p:sp>
        <p:nvSpPr>
          <p:cNvPr id="29" name="Shape 21"/>
          <p:cNvSpPr/>
          <p:nvPr/>
        </p:nvSpPr>
        <p:spPr>
          <a:xfrm>
            <a:off x="548640" y="5715000"/>
            <a:ext cx="10881360" cy="685800"/>
          </a:xfrm>
          <a:prstGeom prst="roundRect">
            <a:avLst>
              <a:gd name="adj" fmla="val 12000"/>
            </a:avLst>
          </a:prstGeom>
          <a:solidFill>
            <a:srgbClr val="EAF0F8"/>
          </a:solidFill>
          <a:ln/>
        </p:spPr>
      </p:sp>
      <p:sp>
        <p:nvSpPr>
          <p:cNvPr id="30" name="Text 22"/>
          <p:cNvSpPr/>
          <p:nvPr/>
        </p:nvSpPr>
        <p:spPr>
          <a:xfrm>
            <a:off x="822960" y="5806440"/>
            <a:ext cx="10332720" cy="502920"/>
          </a:xfrm>
          <a:prstGeom prst="rect">
            <a:avLst/>
          </a:prstGeom>
          <a:noFill/>
          <a:ln/>
        </p:spPr>
        <p:txBody>
          <a:bodyPr wrap="square" rtlCol="0" anchor="ctr"/>
          <a:lstStyle/>
          <a:p>
            <a:pPr marL="0" indent="0">
              <a:buNone/>
            </a:pPr>
            <a:r>
              <a:rPr lang="en-US" sz="1250" i="1" dirty="0">
                <a:solidFill>
                  <a:srgbClr val="152238"/>
                </a:solidFill>
                <a:latin typeface="Calibri" pitchFamily="34" charset="0"/>
                <a:ea typeface="Calibri" pitchFamily="34" charset="-122"/>
                <a:cs typeface="Calibri" pitchFamily="34" charset="-120"/>
              </a:rPr>
              <a:t>Why it matters: cleaning the data properly meant every KPI and chart in the dashboards could be trusted — no guesswork, no manual double-checking.</a:t>
            </a:r>
            <a:endParaRPr lang="en-US" sz="1250" dirty="0"/>
          </a:p>
        </p:txBody>
      </p:sp>
      <p:sp>
        <p:nvSpPr>
          <p:cNvPr id="31" name="Text 23"/>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GlobalMart Supply Chain Analytics</a:t>
            </a:r>
            <a:endParaRPr lang="en-US" sz="900" dirty="0"/>
          </a:p>
        </p:txBody>
      </p:sp>
      <p:sp>
        <p:nvSpPr>
          <p:cNvPr id="32" name="Text 24"/>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database.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THE FOUNDATION</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Data Overview &amp; Structure</a:t>
            </a:r>
            <a:endParaRPr lang="en-US" sz="2600" dirty="0"/>
          </a:p>
        </p:txBody>
      </p:sp>
      <p:sp>
        <p:nvSpPr>
          <p:cNvPr id="6" name="Text 3"/>
          <p:cNvSpPr/>
          <p:nvPr/>
        </p:nvSpPr>
        <p:spPr>
          <a:xfrm>
            <a:off x="548640" y="1234440"/>
            <a:ext cx="10881360" cy="50292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The analysis is built on GlobalMart's Global Superstore dataset ; a record of customer orders, revenue, suppliers, and shipping activity across regions.</a:t>
            </a:r>
            <a:endParaRPr lang="en-US" sz="1450" dirty="0"/>
          </a:p>
        </p:txBody>
      </p:sp>
      <p:sp>
        <p:nvSpPr>
          <p:cNvPr id="7" name="Shape 4"/>
          <p:cNvSpPr/>
          <p:nvPr/>
        </p:nvSpPr>
        <p:spPr>
          <a:xfrm>
            <a:off x="457200" y="1920239"/>
            <a:ext cx="6263640" cy="4023361"/>
          </a:xfrm>
          <a:prstGeom prst="roundRect">
            <a:avLst>
              <a:gd name="adj" fmla="val 1957"/>
            </a:avLst>
          </a:prstGeom>
          <a:solidFill>
            <a:srgbClr val="FFFFFF"/>
          </a:solidFill>
          <a:ln/>
          <a:effectLst>
            <a:outerShdw blurRad="101600" dist="25400" dir="5400000" algn="bl" rotWithShape="0">
              <a:srgbClr val="9AA5B1">
                <a:alpha val="25000"/>
              </a:srgbClr>
            </a:outerShdw>
          </a:effectLst>
        </p:spPr>
      </p:sp>
      <p:sp>
        <p:nvSpPr>
          <p:cNvPr id="8" name="Text 5"/>
          <p:cNvSpPr/>
          <p:nvPr/>
        </p:nvSpPr>
        <p:spPr>
          <a:xfrm>
            <a:off x="914400" y="2194560"/>
            <a:ext cx="5486400" cy="365760"/>
          </a:xfrm>
          <a:prstGeom prst="rect">
            <a:avLst/>
          </a:prstGeom>
          <a:noFill/>
          <a:ln/>
        </p:spPr>
        <p:txBody>
          <a:bodyPr wrap="square" rtlCol="0" anchor="ctr"/>
          <a:lstStyle/>
          <a:p>
            <a:pPr marL="0" indent="0">
              <a:buNone/>
            </a:pPr>
            <a:r>
              <a:rPr lang="en-US" sz="1600" b="1" dirty="0">
                <a:solidFill>
                  <a:srgbClr val="152238"/>
                </a:solidFill>
                <a:latin typeface="Cambria" pitchFamily="34" charset="0"/>
                <a:ea typeface="Cambria" pitchFamily="34" charset="-122"/>
                <a:cs typeface="Cambria" pitchFamily="34" charset="-120"/>
              </a:rPr>
              <a:t>What the Data Contains</a:t>
            </a:r>
            <a:endParaRPr lang="en-US" sz="1600" dirty="0"/>
          </a:p>
        </p:txBody>
      </p:sp>
      <p:sp>
        <p:nvSpPr>
          <p:cNvPr id="9" name="Shape 6"/>
          <p:cNvSpPr/>
          <p:nvPr/>
        </p:nvSpPr>
        <p:spPr>
          <a:xfrm>
            <a:off x="960120" y="2779776"/>
            <a:ext cx="82296" cy="82296"/>
          </a:xfrm>
          <a:prstGeom prst="ellipse">
            <a:avLst/>
          </a:prstGeom>
          <a:solidFill>
            <a:srgbClr val="E8A33D"/>
          </a:solidFill>
          <a:ln/>
        </p:spPr>
      </p:sp>
      <p:sp>
        <p:nvSpPr>
          <p:cNvPr id="10" name="Text 7"/>
          <p:cNvSpPr/>
          <p:nvPr/>
        </p:nvSpPr>
        <p:spPr>
          <a:xfrm>
            <a:off x="1188720" y="2697480"/>
            <a:ext cx="5394960" cy="365760"/>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Customer orders, revenue, and profit</a:t>
            </a:r>
            <a:endParaRPr lang="en-US" sz="1350" dirty="0"/>
          </a:p>
        </p:txBody>
      </p:sp>
      <p:sp>
        <p:nvSpPr>
          <p:cNvPr id="11" name="Shape 8"/>
          <p:cNvSpPr/>
          <p:nvPr/>
        </p:nvSpPr>
        <p:spPr>
          <a:xfrm>
            <a:off x="960120" y="3282696"/>
            <a:ext cx="82296" cy="82296"/>
          </a:xfrm>
          <a:prstGeom prst="ellipse">
            <a:avLst/>
          </a:prstGeom>
          <a:solidFill>
            <a:srgbClr val="E8A33D"/>
          </a:solidFill>
          <a:ln/>
        </p:spPr>
      </p:sp>
      <p:sp>
        <p:nvSpPr>
          <p:cNvPr id="12" name="Text 9"/>
          <p:cNvSpPr/>
          <p:nvPr/>
        </p:nvSpPr>
        <p:spPr>
          <a:xfrm>
            <a:off x="1188720" y="3200400"/>
            <a:ext cx="5394960" cy="365760"/>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Suppliers, countries, and regions</a:t>
            </a:r>
            <a:endParaRPr lang="en-US" sz="1350" dirty="0"/>
          </a:p>
        </p:txBody>
      </p:sp>
      <p:sp>
        <p:nvSpPr>
          <p:cNvPr id="13" name="Shape 10"/>
          <p:cNvSpPr/>
          <p:nvPr/>
        </p:nvSpPr>
        <p:spPr>
          <a:xfrm>
            <a:off x="960120" y="3785616"/>
            <a:ext cx="82296" cy="82296"/>
          </a:xfrm>
          <a:prstGeom prst="ellipse">
            <a:avLst/>
          </a:prstGeom>
          <a:solidFill>
            <a:srgbClr val="E8A33D"/>
          </a:solidFill>
          <a:ln/>
        </p:spPr>
      </p:sp>
      <p:sp>
        <p:nvSpPr>
          <p:cNvPr id="14" name="Text 11"/>
          <p:cNvSpPr/>
          <p:nvPr/>
        </p:nvSpPr>
        <p:spPr>
          <a:xfrm>
            <a:off x="1188720" y="3703320"/>
            <a:ext cx="5394960" cy="365760"/>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Product categories and shipping modes</a:t>
            </a:r>
            <a:endParaRPr lang="en-US" sz="1350" dirty="0"/>
          </a:p>
        </p:txBody>
      </p:sp>
      <p:sp>
        <p:nvSpPr>
          <p:cNvPr id="15" name="Shape 12"/>
          <p:cNvSpPr/>
          <p:nvPr/>
        </p:nvSpPr>
        <p:spPr>
          <a:xfrm>
            <a:off x="960120" y="4288536"/>
            <a:ext cx="82296" cy="82296"/>
          </a:xfrm>
          <a:prstGeom prst="ellipse">
            <a:avLst/>
          </a:prstGeom>
          <a:solidFill>
            <a:srgbClr val="E8A33D"/>
          </a:solidFill>
          <a:ln/>
        </p:spPr>
      </p:sp>
      <p:sp>
        <p:nvSpPr>
          <p:cNvPr id="16" name="Text 13"/>
          <p:cNvSpPr/>
          <p:nvPr/>
        </p:nvSpPr>
        <p:spPr>
          <a:xfrm>
            <a:off x="1188720" y="4206240"/>
            <a:ext cx="5394960" cy="365760"/>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Order dates and ship dates</a:t>
            </a:r>
            <a:endParaRPr lang="en-US" sz="1350" dirty="0"/>
          </a:p>
        </p:txBody>
      </p:sp>
      <p:sp>
        <p:nvSpPr>
          <p:cNvPr id="17" name="Shape 14"/>
          <p:cNvSpPr/>
          <p:nvPr/>
        </p:nvSpPr>
        <p:spPr>
          <a:xfrm>
            <a:off x="960120" y="4791456"/>
            <a:ext cx="82296" cy="82296"/>
          </a:xfrm>
          <a:prstGeom prst="ellipse">
            <a:avLst/>
          </a:prstGeom>
          <a:solidFill>
            <a:srgbClr val="E8A33D"/>
          </a:solidFill>
          <a:ln/>
        </p:spPr>
      </p:sp>
      <p:sp>
        <p:nvSpPr>
          <p:cNvPr id="18" name="Text 15"/>
          <p:cNvSpPr/>
          <p:nvPr/>
        </p:nvSpPr>
        <p:spPr>
          <a:xfrm>
            <a:off x="1188720" y="4709160"/>
            <a:ext cx="5394960" cy="365760"/>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Stock levels and quantities ordered</a:t>
            </a:r>
            <a:endParaRPr lang="en-US" sz="1350" dirty="0"/>
          </a:p>
        </p:txBody>
      </p:sp>
      <p:sp>
        <p:nvSpPr>
          <p:cNvPr id="19" name="Shape 16"/>
          <p:cNvSpPr/>
          <p:nvPr/>
        </p:nvSpPr>
        <p:spPr>
          <a:xfrm>
            <a:off x="960120" y="5294376"/>
            <a:ext cx="82296" cy="82296"/>
          </a:xfrm>
          <a:prstGeom prst="ellipse">
            <a:avLst/>
          </a:prstGeom>
          <a:solidFill>
            <a:srgbClr val="E8A33D"/>
          </a:solidFill>
          <a:ln/>
        </p:spPr>
      </p:sp>
      <p:sp>
        <p:nvSpPr>
          <p:cNvPr id="20" name="Text 17"/>
          <p:cNvSpPr/>
          <p:nvPr/>
        </p:nvSpPr>
        <p:spPr>
          <a:xfrm>
            <a:off x="1188720" y="5212080"/>
            <a:ext cx="5394960" cy="365760"/>
          </a:xfrm>
          <a:prstGeom prst="rect">
            <a:avLst/>
          </a:prstGeom>
          <a:noFill/>
          <a:ln/>
        </p:spPr>
        <p:txBody>
          <a:bodyPr wrap="square" rtlCol="0" anchor="ctr"/>
          <a:lstStyle/>
          <a:p>
            <a:pPr marL="0" indent="0">
              <a:buNone/>
            </a:pPr>
            <a:r>
              <a:rPr lang="en-US" sz="1350" dirty="0">
                <a:solidFill>
                  <a:srgbClr val="1B2430"/>
                </a:solidFill>
                <a:latin typeface="Calibri" pitchFamily="34" charset="0"/>
                <a:ea typeface="Calibri" pitchFamily="34" charset="-122"/>
                <a:cs typeface="Calibri" pitchFamily="34" charset="-120"/>
              </a:rPr>
              <a:t>Damaged goods records</a:t>
            </a:r>
            <a:endParaRPr lang="en-US" sz="1350" dirty="0"/>
          </a:p>
        </p:txBody>
      </p:sp>
      <p:sp>
        <p:nvSpPr>
          <p:cNvPr id="21" name="Shape 18"/>
          <p:cNvSpPr/>
          <p:nvPr/>
        </p:nvSpPr>
        <p:spPr>
          <a:xfrm>
            <a:off x="914400" y="5760720"/>
            <a:ext cx="5532120" cy="0"/>
          </a:xfrm>
          <a:prstGeom prst="line">
            <a:avLst/>
          </a:prstGeom>
          <a:noFill/>
          <a:ln w="12700">
            <a:solidFill>
              <a:srgbClr val="D6DEE8"/>
            </a:solidFill>
            <a:prstDash val="solid"/>
          </a:ln>
        </p:spPr>
      </p:sp>
      <p:sp>
        <p:nvSpPr>
          <p:cNvPr id="22" name="Text 19"/>
          <p:cNvSpPr/>
          <p:nvPr/>
        </p:nvSpPr>
        <p:spPr>
          <a:xfrm>
            <a:off x="512064" y="5523807"/>
            <a:ext cx="5577840" cy="1554480"/>
          </a:xfrm>
          <a:prstGeom prst="rect">
            <a:avLst/>
          </a:prstGeom>
          <a:noFill/>
          <a:ln/>
        </p:spPr>
        <p:txBody>
          <a:bodyPr wrap="square" rtlCol="0" anchor="ctr"/>
          <a:lstStyle/>
          <a:p>
            <a:pPr marL="0" indent="0">
              <a:lnSpc>
                <a:spcPts val="1600"/>
              </a:lnSpc>
              <a:buNone/>
            </a:pPr>
            <a:r>
              <a:rPr lang="en-US" sz="1200" dirty="0">
                <a:solidFill>
                  <a:srgbClr val="5B6B7C"/>
                </a:solidFill>
                <a:latin typeface="Calibri" pitchFamily="34" charset="0"/>
                <a:ea typeface="Calibri" pitchFamily="34" charset="-122"/>
                <a:cs typeface="Calibri" pitchFamily="34" charset="-120"/>
              </a:rPr>
              <a:t>The data wasn't clean out of the box —mixed date formats, duplicate supplier names, and shipping dates that didn't add up all had to be resolved before analysis could begin, without deleting or altering the original records.</a:t>
            </a:r>
            <a:endParaRPr lang="en-US" sz="1200" dirty="0"/>
          </a:p>
        </p:txBody>
      </p:sp>
      <p:sp>
        <p:nvSpPr>
          <p:cNvPr id="23" name="Shape 20"/>
          <p:cNvSpPr/>
          <p:nvPr/>
        </p:nvSpPr>
        <p:spPr>
          <a:xfrm>
            <a:off x="7086600" y="1965960"/>
            <a:ext cx="43434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24" name="Text 21"/>
          <p:cNvSpPr/>
          <p:nvPr/>
        </p:nvSpPr>
        <p:spPr>
          <a:xfrm>
            <a:off x="7360920" y="2039112"/>
            <a:ext cx="2011680" cy="64008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2,000+</a:t>
            </a:r>
            <a:endParaRPr lang="en-US" sz="3000" dirty="0"/>
          </a:p>
        </p:txBody>
      </p:sp>
      <p:sp>
        <p:nvSpPr>
          <p:cNvPr id="25" name="Text 22"/>
          <p:cNvSpPr/>
          <p:nvPr/>
        </p:nvSpPr>
        <p:spPr>
          <a:xfrm>
            <a:off x="9372600" y="1965960"/>
            <a:ext cx="1920240" cy="960120"/>
          </a:xfrm>
          <a:prstGeom prst="rect">
            <a:avLst/>
          </a:prstGeom>
          <a:noFill/>
          <a:ln/>
        </p:spPr>
        <p:txBody>
          <a:bodyPr wrap="square" rtlCol="0" anchor="ctr"/>
          <a:lstStyle/>
          <a:p>
            <a:pPr marL="0" indent="0">
              <a:lnSpc>
                <a:spcPts val="1500"/>
              </a:lnSpc>
              <a:buNone/>
            </a:pPr>
            <a:r>
              <a:rPr lang="en-US" sz="1250" dirty="0">
                <a:solidFill>
                  <a:srgbClr val="E7ECF4"/>
                </a:solidFill>
                <a:latin typeface="Calibri" pitchFamily="34" charset="0"/>
                <a:ea typeface="Calibri" pitchFamily="34" charset="-122"/>
                <a:cs typeface="Calibri" pitchFamily="34" charset="-120"/>
              </a:rPr>
              <a:t>Customer Orders Analyzed</a:t>
            </a:r>
            <a:endParaRPr lang="en-US" sz="1250" dirty="0"/>
          </a:p>
        </p:txBody>
      </p:sp>
      <p:sp>
        <p:nvSpPr>
          <p:cNvPr id="26" name="Shape 23"/>
          <p:cNvSpPr/>
          <p:nvPr/>
        </p:nvSpPr>
        <p:spPr>
          <a:xfrm>
            <a:off x="7086600" y="3154680"/>
            <a:ext cx="43434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27" name="Text 24"/>
          <p:cNvSpPr/>
          <p:nvPr/>
        </p:nvSpPr>
        <p:spPr>
          <a:xfrm>
            <a:off x="7360920" y="3227832"/>
            <a:ext cx="2011680" cy="64008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$717M</a:t>
            </a:r>
            <a:endParaRPr lang="en-US" sz="3000" dirty="0"/>
          </a:p>
        </p:txBody>
      </p:sp>
      <p:sp>
        <p:nvSpPr>
          <p:cNvPr id="28" name="Text 25"/>
          <p:cNvSpPr/>
          <p:nvPr/>
        </p:nvSpPr>
        <p:spPr>
          <a:xfrm>
            <a:off x="9372600" y="3154680"/>
            <a:ext cx="1920240" cy="960120"/>
          </a:xfrm>
          <a:prstGeom prst="rect">
            <a:avLst/>
          </a:prstGeom>
          <a:noFill/>
          <a:ln/>
        </p:spPr>
        <p:txBody>
          <a:bodyPr wrap="square" rtlCol="0" anchor="ctr"/>
          <a:lstStyle/>
          <a:p>
            <a:pPr marL="0" indent="0">
              <a:lnSpc>
                <a:spcPts val="1500"/>
              </a:lnSpc>
              <a:buNone/>
            </a:pPr>
            <a:r>
              <a:rPr lang="en-US" sz="1250" dirty="0">
                <a:solidFill>
                  <a:srgbClr val="E7ECF4"/>
                </a:solidFill>
                <a:latin typeface="Calibri" pitchFamily="34" charset="0"/>
                <a:ea typeface="Calibri" pitchFamily="34" charset="-122"/>
                <a:cs typeface="Calibri" pitchFamily="34" charset="-120"/>
              </a:rPr>
              <a:t>Total Revenue Captured</a:t>
            </a:r>
            <a:endParaRPr lang="en-US" sz="1250" dirty="0"/>
          </a:p>
        </p:txBody>
      </p:sp>
      <p:sp>
        <p:nvSpPr>
          <p:cNvPr id="29" name="Shape 26"/>
          <p:cNvSpPr/>
          <p:nvPr/>
        </p:nvSpPr>
        <p:spPr>
          <a:xfrm>
            <a:off x="7086600" y="4343400"/>
            <a:ext cx="43434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30" name="Text 27"/>
          <p:cNvSpPr/>
          <p:nvPr/>
        </p:nvSpPr>
        <p:spPr>
          <a:xfrm>
            <a:off x="7360920" y="4416552"/>
            <a:ext cx="2011680" cy="64008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rPr>
              <a:t>10</a:t>
            </a:r>
            <a:endParaRPr lang="en-US" sz="3000" dirty="0"/>
          </a:p>
        </p:txBody>
      </p:sp>
      <p:sp>
        <p:nvSpPr>
          <p:cNvPr id="31" name="Text 28"/>
          <p:cNvSpPr/>
          <p:nvPr/>
        </p:nvSpPr>
        <p:spPr>
          <a:xfrm>
            <a:off x="9372600" y="4343400"/>
            <a:ext cx="1920240" cy="960120"/>
          </a:xfrm>
          <a:prstGeom prst="rect">
            <a:avLst/>
          </a:prstGeom>
          <a:noFill/>
          <a:ln/>
        </p:spPr>
        <p:txBody>
          <a:bodyPr wrap="square" rtlCol="0" anchor="ctr"/>
          <a:lstStyle/>
          <a:p>
            <a:pPr marL="0" indent="0">
              <a:lnSpc>
                <a:spcPts val="1500"/>
              </a:lnSpc>
              <a:buNone/>
            </a:pPr>
            <a:r>
              <a:rPr lang="en-US" sz="1250" dirty="0">
                <a:solidFill>
                  <a:srgbClr val="E7ECF4"/>
                </a:solidFill>
                <a:latin typeface="Calibri" pitchFamily="34" charset="0"/>
                <a:ea typeface="Calibri" pitchFamily="34" charset="-122"/>
                <a:cs typeface="Calibri" pitchFamily="34" charset="-120"/>
              </a:rPr>
              <a:t>Product Categories</a:t>
            </a:r>
            <a:endParaRPr lang="en-US" sz="1250" dirty="0"/>
          </a:p>
        </p:txBody>
      </p:sp>
      <p:sp>
        <p:nvSpPr>
          <p:cNvPr id="32" name="Shape 29"/>
          <p:cNvSpPr/>
          <p:nvPr/>
        </p:nvSpPr>
        <p:spPr>
          <a:xfrm>
            <a:off x="7086600" y="5532120"/>
            <a:ext cx="43434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33" name="Text 30"/>
          <p:cNvSpPr/>
          <p:nvPr/>
        </p:nvSpPr>
        <p:spPr>
          <a:xfrm>
            <a:off x="7360920" y="5605272"/>
            <a:ext cx="2011680" cy="64008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13</a:t>
            </a:r>
            <a:endParaRPr lang="en-US" sz="3000" dirty="0"/>
          </a:p>
        </p:txBody>
      </p:sp>
      <p:sp>
        <p:nvSpPr>
          <p:cNvPr id="34" name="Text 31"/>
          <p:cNvSpPr/>
          <p:nvPr/>
        </p:nvSpPr>
        <p:spPr>
          <a:xfrm>
            <a:off x="9372600" y="5532120"/>
            <a:ext cx="1920240" cy="960120"/>
          </a:xfrm>
          <a:prstGeom prst="rect">
            <a:avLst/>
          </a:prstGeom>
          <a:noFill/>
          <a:ln/>
        </p:spPr>
        <p:txBody>
          <a:bodyPr wrap="square" rtlCol="0" anchor="ctr"/>
          <a:lstStyle/>
          <a:p>
            <a:pPr marL="0" indent="0">
              <a:lnSpc>
                <a:spcPts val="1500"/>
              </a:lnSpc>
              <a:buNone/>
            </a:pPr>
            <a:r>
              <a:rPr lang="en-US" sz="1250" dirty="0">
                <a:solidFill>
                  <a:srgbClr val="E7ECF4"/>
                </a:solidFill>
                <a:latin typeface="Calibri" pitchFamily="34" charset="0"/>
                <a:ea typeface="Calibri" pitchFamily="34" charset="-122"/>
                <a:cs typeface="Calibri" pitchFamily="34" charset="-120"/>
              </a:rPr>
              <a:t>Key Suppliers Tracked</a:t>
            </a:r>
            <a:endParaRPr lang="en-US" sz="1250" dirty="0"/>
          </a:p>
        </p:txBody>
      </p:sp>
      <p:sp>
        <p:nvSpPr>
          <p:cNvPr id="36" name="Text 33"/>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truck.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OPERATIONS &amp; LOGISTICS</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Delivery Performance Insights</a:t>
            </a:r>
            <a:endParaRPr lang="en-US" sz="2600" dirty="0"/>
          </a:p>
        </p:txBody>
      </p:sp>
      <p:sp>
        <p:nvSpPr>
          <p:cNvPr id="6" name="Shape 3"/>
          <p:cNvSpPr/>
          <p:nvPr/>
        </p:nvSpPr>
        <p:spPr>
          <a:xfrm>
            <a:off x="548640" y="1234440"/>
            <a:ext cx="34290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7" name="Text 4"/>
          <p:cNvSpPr/>
          <p:nvPr/>
        </p:nvSpPr>
        <p:spPr>
          <a:xfrm>
            <a:off x="777240" y="1307592"/>
            <a:ext cx="1737360" cy="822960"/>
          </a:xfrm>
          <a:prstGeom prst="rect">
            <a:avLst/>
          </a:prstGeom>
          <a:noFill/>
          <a:ln/>
        </p:spPr>
        <p:txBody>
          <a:bodyPr wrap="square" rtlCol="0" anchor="ctr"/>
          <a:lstStyle/>
          <a:p>
            <a:pPr marL="0" indent="0">
              <a:buNone/>
            </a:pPr>
            <a:r>
              <a:rPr lang="en-US" sz="2700" b="1" dirty="0">
                <a:solidFill>
                  <a:srgbClr val="8FD19E"/>
                </a:solidFill>
                <a:latin typeface="Cambria" pitchFamily="34" charset="0"/>
                <a:ea typeface="Cambria" pitchFamily="34" charset="-122"/>
                <a:cs typeface="Cambria" pitchFamily="34" charset="-120"/>
              </a:rPr>
              <a:t>34.38%</a:t>
            </a:r>
            <a:endParaRPr lang="en-US" sz="2700" dirty="0"/>
          </a:p>
        </p:txBody>
      </p:sp>
      <p:sp>
        <p:nvSpPr>
          <p:cNvPr id="8" name="Text 5"/>
          <p:cNvSpPr/>
          <p:nvPr/>
        </p:nvSpPr>
        <p:spPr>
          <a:xfrm>
            <a:off x="2377440" y="1234440"/>
            <a:ext cx="1463040" cy="960120"/>
          </a:xfrm>
          <a:prstGeom prst="rect">
            <a:avLst/>
          </a:prstGeom>
          <a:noFill/>
          <a:ln/>
        </p:spPr>
        <p:txBody>
          <a:bodyPr wrap="square" rtlCol="0" anchor="ctr"/>
          <a:lstStyle/>
          <a:p>
            <a:pPr marL="0" indent="0">
              <a:lnSpc>
                <a:spcPts val="1400"/>
              </a:lnSpc>
              <a:buNone/>
            </a:pPr>
            <a:r>
              <a:rPr lang="en-US" sz="1150" dirty="0">
                <a:solidFill>
                  <a:srgbClr val="E7ECF4"/>
                </a:solidFill>
                <a:latin typeface="Calibri" pitchFamily="34" charset="0"/>
                <a:ea typeface="Calibri" pitchFamily="34" charset="-122"/>
                <a:cs typeface="Calibri" pitchFamily="34" charset="-120"/>
              </a:rPr>
              <a:t>On-Time Deliveries</a:t>
            </a:r>
            <a:endParaRPr lang="en-US" sz="1150" dirty="0"/>
          </a:p>
        </p:txBody>
      </p:sp>
      <p:sp>
        <p:nvSpPr>
          <p:cNvPr id="9" name="Shape 6"/>
          <p:cNvSpPr/>
          <p:nvPr/>
        </p:nvSpPr>
        <p:spPr>
          <a:xfrm>
            <a:off x="4297680" y="1234440"/>
            <a:ext cx="34290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10" name="Text 7"/>
          <p:cNvSpPr/>
          <p:nvPr/>
        </p:nvSpPr>
        <p:spPr>
          <a:xfrm>
            <a:off x="4526280" y="1307592"/>
            <a:ext cx="1737360" cy="822960"/>
          </a:xfrm>
          <a:prstGeom prst="rect">
            <a:avLst/>
          </a:prstGeom>
          <a:noFill/>
          <a:ln/>
        </p:spPr>
        <p:txBody>
          <a:bodyPr wrap="square" rtlCol="0" anchor="ctr"/>
          <a:lstStyle/>
          <a:p>
            <a:pPr marL="0" indent="0">
              <a:buNone/>
            </a:pPr>
            <a:r>
              <a:rPr lang="en-US" sz="2700" b="1" dirty="0">
                <a:solidFill>
                  <a:srgbClr val="F2A28E"/>
                </a:solidFill>
                <a:latin typeface="Cambria" pitchFamily="34" charset="0"/>
                <a:ea typeface="Cambria" pitchFamily="34" charset="-122"/>
                <a:cs typeface="Cambria" pitchFamily="34" charset="-120"/>
              </a:rPr>
              <a:t>66.82%</a:t>
            </a:r>
            <a:endParaRPr lang="en-US" sz="2700" dirty="0"/>
          </a:p>
        </p:txBody>
      </p:sp>
      <p:sp>
        <p:nvSpPr>
          <p:cNvPr id="11" name="Text 8"/>
          <p:cNvSpPr/>
          <p:nvPr/>
        </p:nvSpPr>
        <p:spPr>
          <a:xfrm>
            <a:off x="6126480" y="1234440"/>
            <a:ext cx="1463040" cy="960120"/>
          </a:xfrm>
          <a:prstGeom prst="rect">
            <a:avLst/>
          </a:prstGeom>
          <a:noFill/>
          <a:ln/>
        </p:spPr>
        <p:txBody>
          <a:bodyPr wrap="square" rtlCol="0" anchor="ctr"/>
          <a:lstStyle/>
          <a:p>
            <a:pPr marL="0" indent="0">
              <a:lnSpc>
                <a:spcPts val="1400"/>
              </a:lnSpc>
              <a:buNone/>
            </a:pPr>
            <a:r>
              <a:rPr lang="en-US" sz="1150" dirty="0">
                <a:solidFill>
                  <a:srgbClr val="E7ECF4"/>
                </a:solidFill>
                <a:latin typeface="Calibri" pitchFamily="34" charset="0"/>
                <a:ea typeface="Calibri" pitchFamily="34" charset="-122"/>
                <a:cs typeface="Calibri" pitchFamily="34" charset="-120"/>
              </a:rPr>
              <a:t>Late Deliveries</a:t>
            </a:r>
            <a:endParaRPr lang="en-US" sz="1150" dirty="0"/>
          </a:p>
        </p:txBody>
      </p:sp>
      <p:sp>
        <p:nvSpPr>
          <p:cNvPr id="12" name="Shape 9"/>
          <p:cNvSpPr/>
          <p:nvPr/>
        </p:nvSpPr>
        <p:spPr>
          <a:xfrm>
            <a:off x="8046720" y="1234440"/>
            <a:ext cx="34290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13" name="Text 10"/>
          <p:cNvSpPr/>
          <p:nvPr/>
        </p:nvSpPr>
        <p:spPr>
          <a:xfrm>
            <a:off x="8275320" y="1307592"/>
            <a:ext cx="1737360" cy="822960"/>
          </a:xfrm>
          <a:prstGeom prst="rect">
            <a:avLst/>
          </a:prstGeom>
          <a:noFill/>
          <a:ln/>
        </p:spPr>
        <p:txBody>
          <a:bodyPr wrap="square" rtlCol="0" anchor="ctr"/>
          <a:lstStyle/>
          <a:p>
            <a:pPr marL="0" indent="0">
              <a:buNone/>
            </a:pPr>
            <a:r>
              <a:rPr lang="en-US" sz="2700" b="1" dirty="0">
                <a:solidFill>
                  <a:srgbClr val="E8A33D"/>
                </a:solidFill>
                <a:latin typeface="Cambria" pitchFamily="34" charset="0"/>
                <a:ea typeface="Cambria" pitchFamily="34" charset="-122"/>
                <a:cs typeface="Cambria" pitchFamily="34" charset="-120"/>
              </a:rPr>
              <a:t>10 days</a:t>
            </a:r>
            <a:endParaRPr lang="en-US" sz="2700" dirty="0"/>
          </a:p>
        </p:txBody>
      </p:sp>
      <p:sp>
        <p:nvSpPr>
          <p:cNvPr id="14" name="Text 11"/>
          <p:cNvSpPr/>
          <p:nvPr/>
        </p:nvSpPr>
        <p:spPr>
          <a:xfrm>
            <a:off x="9875520" y="1234440"/>
            <a:ext cx="1463040" cy="960120"/>
          </a:xfrm>
          <a:prstGeom prst="rect">
            <a:avLst/>
          </a:prstGeom>
          <a:noFill/>
          <a:ln/>
        </p:spPr>
        <p:txBody>
          <a:bodyPr wrap="square" rtlCol="0" anchor="ctr"/>
          <a:lstStyle/>
          <a:p>
            <a:pPr marL="0" indent="0">
              <a:lnSpc>
                <a:spcPts val="1400"/>
              </a:lnSpc>
              <a:buNone/>
            </a:pPr>
            <a:r>
              <a:rPr lang="en-US" sz="1150" dirty="0">
                <a:solidFill>
                  <a:srgbClr val="E7ECF4"/>
                </a:solidFill>
                <a:latin typeface="Calibri" pitchFamily="34" charset="0"/>
                <a:ea typeface="Calibri" pitchFamily="34" charset="-122"/>
                <a:cs typeface="Calibri" pitchFamily="34" charset="-120"/>
              </a:rPr>
              <a:t>Average Time to Ship</a:t>
            </a:r>
            <a:endParaRPr lang="en-US" sz="1150" dirty="0"/>
          </a:p>
        </p:txBody>
      </p:sp>
      <p:sp>
        <p:nvSpPr>
          <p:cNvPr id="15" name="Shape 12"/>
          <p:cNvSpPr/>
          <p:nvPr/>
        </p:nvSpPr>
        <p:spPr>
          <a:xfrm>
            <a:off x="548640" y="2423160"/>
            <a:ext cx="5394960" cy="3977640"/>
          </a:xfrm>
          <a:prstGeom prst="roundRect">
            <a:avLst>
              <a:gd name="adj" fmla="val 2069"/>
            </a:avLst>
          </a:prstGeom>
          <a:solidFill>
            <a:srgbClr val="FFFFFF"/>
          </a:solidFill>
          <a:ln/>
          <a:effectLst>
            <a:outerShdw blurRad="101600" dist="25400" dir="5400000" algn="bl" rotWithShape="0">
              <a:srgbClr val="9AA5B1">
                <a:alpha val="25000"/>
              </a:srgbClr>
            </a:outerShdw>
          </a:effectLst>
        </p:spPr>
      </p:sp>
      <p:sp>
        <p:nvSpPr>
          <p:cNvPr id="16" name="Text 13"/>
          <p:cNvSpPr/>
          <p:nvPr/>
        </p:nvSpPr>
        <p:spPr>
          <a:xfrm>
            <a:off x="822960" y="2606040"/>
            <a:ext cx="484632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On-Time Rate by Shipping Mode</a:t>
            </a:r>
            <a:endParaRPr lang="en-US" sz="1400" dirty="0"/>
          </a:p>
        </p:txBody>
      </p:sp>
      <p:graphicFrame>
        <p:nvGraphicFramePr>
          <p:cNvPr id="17" name="Chart 0"/>
          <p:cNvGraphicFramePr/>
          <p:nvPr/>
        </p:nvGraphicFramePr>
        <p:xfrm>
          <a:off x="777240" y="2926080"/>
          <a:ext cx="493776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14"/>
          <p:cNvSpPr/>
          <p:nvPr/>
        </p:nvSpPr>
        <p:spPr>
          <a:xfrm>
            <a:off x="6217920" y="2423160"/>
            <a:ext cx="5394960" cy="3977640"/>
          </a:xfrm>
          <a:prstGeom prst="roundRect">
            <a:avLst>
              <a:gd name="adj" fmla="val 2069"/>
            </a:avLst>
          </a:prstGeom>
          <a:solidFill>
            <a:srgbClr val="FFFFFF"/>
          </a:solidFill>
          <a:ln/>
          <a:effectLst>
            <a:outerShdw blurRad="101600" dist="25400" dir="5400000" algn="bl" rotWithShape="0">
              <a:srgbClr val="9AA5B1">
                <a:alpha val="25000"/>
              </a:srgbClr>
            </a:outerShdw>
          </a:effectLst>
        </p:spPr>
      </p:sp>
      <p:sp>
        <p:nvSpPr>
          <p:cNvPr id="19" name="Text 15"/>
          <p:cNvSpPr/>
          <p:nvPr/>
        </p:nvSpPr>
        <p:spPr>
          <a:xfrm>
            <a:off x="6492240" y="2606040"/>
            <a:ext cx="484632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What This Means</a:t>
            </a:r>
            <a:endParaRPr lang="en-US" sz="1400" dirty="0"/>
          </a:p>
        </p:txBody>
      </p:sp>
      <p:sp>
        <p:nvSpPr>
          <p:cNvPr id="20" name="Shape 16"/>
          <p:cNvSpPr/>
          <p:nvPr/>
        </p:nvSpPr>
        <p:spPr>
          <a:xfrm>
            <a:off x="6492240" y="3063240"/>
            <a:ext cx="292608" cy="292608"/>
          </a:xfrm>
          <a:prstGeom prst="ellipse">
            <a:avLst/>
          </a:prstGeom>
          <a:solidFill>
            <a:srgbClr val="EAF0F8"/>
          </a:solidFill>
          <a:ln/>
        </p:spPr>
      </p:sp>
      <p:pic>
        <p:nvPicPr>
          <p:cNvPr id="21" name="Image 1" descr="icons/flag.png"/>
          <p:cNvPicPr>
            <a:picLocks noChangeAspect="1"/>
          </p:cNvPicPr>
          <p:nvPr/>
        </p:nvPicPr>
        <p:blipFill>
          <a:blip r:embed="rId5"/>
          <a:stretch>
            <a:fillRect/>
          </a:stretch>
        </p:blipFill>
        <p:spPr>
          <a:xfrm>
            <a:off x="6556248" y="3127248"/>
            <a:ext cx="164592" cy="164592"/>
          </a:xfrm>
          <a:prstGeom prst="rect">
            <a:avLst/>
          </a:prstGeom>
        </p:spPr>
      </p:pic>
      <p:sp>
        <p:nvSpPr>
          <p:cNvPr id="22" name="Text 17"/>
          <p:cNvSpPr/>
          <p:nvPr/>
        </p:nvSpPr>
        <p:spPr>
          <a:xfrm>
            <a:off x="6949440" y="303580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Only about a third of all orders arrived on time — late deliveries are the biggest operational issue uncovered in this project.</a:t>
            </a:r>
            <a:endParaRPr lang="en-US" sz="1150" dirty="0"/>
          </a:p>
        </p:txBody>
      </p:sp>
      <p:sp>
        <p:nvSpPr>
          <p:cNvPr id="23" name="Shape 18"/>
          <p:cNvSpPr/>
          <p:nvPr/>
        </p:nvSpPr>
        <p:spPr>
          <a:xfrm>
            <a:off x="6492240" y="3840480"/>
            <a:ext cx="292608" cy="292608"/>
          </a:xfrm>
          <a:prstGeom prst="ellipse">
            <a:avLst/>
          </a:prstGeom>
          <a:solidFill>
            <a:srgbClr val="EAF0F8"/>
          </a:solidFill>
          <a:ln/>
        </p:spPr>
      </p:sp>
      <p:pic>
        <p:nvPicPr>
          <p:cNvPr id="24" name="Image 2" descr="icons/flag.png"/>
          <p:cNvPicPr>
            <a:picLocks noChangeAspect="1"/>
          </p:cNvPicPr>
          <p:nvPr/>
        </p:nvPicPr>
        <p:blipFill>
          <a:blip r:embed="rId5"/>
          <a:stretch>
            <a:fillRect/>
          </a:stretch>
        </p:blipFill>
        <p:spPr>
          <a:xfrm>
            <a:off x="6556248" y="3904488"/>
            <a:ext cx="164592" cy="164592"/>
          </a:xfrm>
          <a:prstGeom prst="rect">
            <a:avLst/>
          </a:prstGeom>
        </p:spPr>
      </p:pic>
      <p:sp>
        <p:nvSpPr>
          <p:cNvPr id="25" name="Text 19"/>
          <p:cNvSpPr/>
          <p:nvPr/>
        </p:nvSpPr>
        <p:spPr>
          <a:xfrm>
            <a:off x="6949440" y="381304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Express shipping is the most reliable option; Economy shipping is the least reliable and delays orders most often.</a:t>
            </a:r>
            <a:endParaRPr lang="en-US" sz="1150" dirty="0"/>
          </a:p>
        </p:txBody>
      </p:sp>
      <p:sp>
        <p:nvSpPr>
          <p:cNvPr id="26" name="Shape 20"/>
          <p:cNvSpPr/>
          <p:nvPr/>
        </p:nvSpPr>
        <p:spPr>
          <a:xfrm>
            <a:off x="6492240" y="4617720"/>
            <a:ext cx="292608" cy="292608"/>
          </a:xfrm>
          <a:prstGeom prst="ellipse">
            <a:avLst/>
          </a:prstGeom>
          <a:solidFill>
            <a:srgbClr val="EAF0F8"/>
          </a:solidFill>
          <a:ln/>
        </p:spPr>
      </p:sp>
      <p:pic>
        <p:nvPicPr>
          <p:cNvPr id="27" name="Image 3" descr="icons/flag.png"/>
          <p:cNvPicPr>
            <a:picLocks noChangeAspect="1"/>
          </p:cNvPicPr>
          <p:nvPr/>
        </p:nvPicPr>
        <p:blipFill>
          <a:blip r:embed="rId5"/>
          <a:stretch>
            <a:fillRect/>
          </a:stretch>
        </p:blipFill>
        <p:spPr>
          <a:xfrm>
            <a:off x="6556248" y="4681728"/>
            <a:ext cx="164592" cy="164592"/>
          </a:xfrm>
          <a:prstGeom prst="rect">
            <a:avLst/>
          </a:prstGeom>
        </p:spPr>
      </p:pic>
      <p:sp>
        <p:nvSpPr>
          <p:cNvPr id="28" name="Text 21"/>
          <p:cNvSpPr/>
          <p:nvPr/>
        </p:nvSpPr>
        <p:spPr>
          <a:xfrm>
            <a:off x="6949440" y="459028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Late delivery rates vary widely by supplier — some suppliers are far more reliable than others.</a:t>
            </a:r>
            <a:endParaRPr lang="en-US" sz="1150" dirty="0"/>
          </a:p>
        </p:txBody>
      </p:sp>
      <p:sp>
        <p:nvSpPr>
          <p:cNvPr id="29" name="Shape 22"/>
          <p:cNvSpPr/>
          <p:nvPr/>
        </p:nvSpPr>
        <p:spPr>
          <a:xfrm>
            <a:off x="6492240" y="5394960"/>
            <a:ext cx="292608" cy="292608"/>
          </a:xfrm>
          <a:prstGeom prst="ellipse">
            <a:avLst/>
          </a:prstGeom>
          <a:solidFill>
            <a:srgbClr val="EAF0F8"/>
          </a:solidFill>
          <a:ln/>
        </p:spPr>
      </p:sp>
      <p:pic>
        <p:nvPicPr>
          <p:cNvPr id="30" name="Image 4" descr="icons/flag.png"/>
          <p:cNvPicPr>
            <a:picLocks noChangeAspect="1"/>
          </p:cNvPicPr>
          <p:nvPr/>
        </p:nvPicPr>
        <p:blipFill>
          <a:blip r:embed="rId5"/>
          <a:stretch>
            <a:fillRect/>
          </a:stretch>
        </p:blipFill>
        <p:spPr>
          <a:xfrm>
            <a:off x="6556248" y="5458968"/>
            <a:ext cx="164592" cy="164592"/>
          </a:xfrm>
          <a:prstGeom prst="rect">
            <a:avLst/>
          </a:prstGeom>
        </p:spPr>
      </p:pic>
      <p:sp>
        <p:nvSpPr>
          <p:cNvPr id="31" name="Text 23"/>
          <p:cNvSpPr/>
          <p:nvPr/>
        </p:nvSpPr>
        <p:spPr>
          <a:xfrm>
            <a:off x="6949440" y="536752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Damaged goods are not a major concern, affecting only 2.5% of products overall.</a:t>
            </a:r>
            <a:endParaRPr lang="en-US" sz="1150" dirty="0"/>
          </a:p>
        </p:txBody>
      </p:sp>
      <p:sp>
        <p:nvSpPr>
          <p:cNvPr id="33" name="Text 25"/>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dollar.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BUSINESS PERFORMANCE</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Profitability Analysis Insights</a:t>
            </a:r>
            <a:endParaRPr lang="en-US" sz="2600" dirty="0"/>
          </a:p>
        </p:txBody>
      </p:sp>
      <p:sp>
        <p:nvSpPr>
          <p:cNvPr id="6" name="Shape 3"/>
          <p:cNvSpPr/>
          <p:nvPr/>
        </p:nvSpPr>
        <p:spPr>
          <a:xfrm>
            <a:off x="548640" y="1234440"/>
            <a:ext cx="34290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7" name="Text 4"/>
          <p:cNvSpPr/>
          <p:nvPr/>
        </p:nvSpPr>
        <p:spPr>
          <a:xfrm>
            <a:off x="777240" y="1307592"/>
            <a:ext cx="1737360" cy="822960"/>
          </a:xfrm>
          <a:prstGeom prst="rect">
            <a:avLst/>
          </a:prstGeom>
          <a:noFill/>
          <a:ln/>
        </p:spPr>
        <p:txBody>
          <a:bodyPr wrap="square" rtlCol="0" anchor="ctr"/>
          <a:lstStyle/>
          <a:p>
            <a:pPr marL="0" indent="0">
              <a:buNone/>
            </a:pPr>
            <a:r>
              <a:rPr lang="en-US" sz="2700" b="1" dirty="0">
                <a:solidFill>
                  <a:srgbClr val="E8A33D"/>
                </a:solidFill>
                <a:latin typeface="Cambria" pitchFamily="34" charset="0"/>
                <a:ea typeface="Cambria" pitchFamily="34" charset="-122"/>
                <a:cs typeface="Cambria" pitchFamily="34" charset="-120"/>
              </a:rPr>
              <a:t>$717M</a:t>
            </a:r>
            <a:endParaRPr lang="en-US" sz="2700" dirty="0"/>
          </a:p>
        </p:txBody>
      </p:sp>
      <p:sp>
        <p:nvSpPr>
          <p:cNvPr id="8" name="Text 5"/>
          <p:cNvSpPr/>
          <p:nvPr/>
        </p:nvSpPr>
        <p:spPr>
          <a:xfrm>
            <a:off x="2377440" y="1234440"/>
            <a:ext cx="1463040" cy="960120"/>
          </a:xfrm>
          <a:prstGeom prst="rect">
            <a:avLst/>
          </a:prstGeom>
          <a:noFill/>
          <a:ln/>
        </p:spPr>
        <p:txBody>
          <a:bodyPr wrap="square" rtlCol="0" anchor="ctr"/>
          <a:lstStyle/>
          <a:p>
            <a:pPr marL="0" indent="0">
              <a:lnSpc>
                <a:spcPts val="1400"/>
              </a:lnSpc>
              <a:buNone/>
            </a:pPr>
            <a:r>
              <a:rPr lang="en-US" sz="1200" dirty="0">
                <a:solidFill>
                  <a:srgbClr val="E7ECF4"/>
                </a:solidFill>
                <a:latin typeface="Calibri" pitchFamily="34" charset="0"/>
                <a:ea typeface="Calibri" pitchFamily="34" charset="-122"/>
                <a:cs typeface="Calibri" pitchFamily="34" charset="-120"/>
              </a:rPr>
              <a:t>Total Revenue</a:t>
            </a:r>
            <a:endParaRPr lang="en-US" sz="1200" dirty="0"/>
          </a:p>
        </p:txBody>
      </p:sp>
      <p:sp>
        <p:nvSpPr>
          <p:cNvPr id="9" name="Shape 6"/>
          <p:cNvSpPr/>
          <p:nvPr/>
        </p:nvSpPr>
        <p:spPr>
          <a:xfrm>
            <a:off x="4297680" y="1234440"/>
            <a:ext cx="34290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10" name="Text 7"/>
          <p:cNvSpPr/>
          <p:nvPr/>
        </p:nvSpPr>
        <p:spPr>
          <a:xfrm>
            <a:off x="4526280" y="1307592"/>
            <a:ext cx="1737360" cy="822960"/>
          </a:xfrm>
          <a:prstGeom prst="rect">
            <a:avLst/>
          </a:prstGeom>
          <a:noFill/>
          <a:ln/>
        </p:spPr>
        <p:txBody>
          <a:bodyPr wrap="square" rtlCol="0" anchor="ctr"/>
          <a:lstStyle/>
          <a:p>
            <a:pPr marL="0" indent="0">
              <a:buNone/>
            </a:pPr>
            <a:r>
              <a:rPr lang="en-US" sz="2700" b="1" dirty="0">
                <a:solidFill>
                  <a:srgbClr val="E8A33D"/>
                </a:solidFill>
                <a:latin typeface="Cambria" pitchFamily="34" charset="0"/>
                <a:ea typeface="Cambria" pitchFamily="34" charset="-122"/>
                <a:cs typeface="Cambria" pitchFamily="34" charset="-120"/>
              </a:rPr>
              <a:t>$199M</a:t>
            </a:r>
            <a:endParaRPr lang="en-US" sz="2700" dirty="0"/>
          </a:p>
        </p:txBody>
      </p:sp>
      <p:sp>
        <p:nvSpPr>
          <p:cNvPr id="11" name="Text 8"/>
          <p:cNvSpPr/>
          <p:nvPr/>
        </p:nvSpPr>
        <p:spPr>
          <a:xfrm>
            <a:off x="6126480" y="1234440"/>
            <a:ext cx="1463040" cy="960120"/>
          </a:xfrm>
          <a:prstGeom prst="rect">
            <a:avLst/>
          </a:prstGeom>
          <a:noFill/>
          <a:ln/>
        </p:spPr>
        <p:txBody>
          <a:bodyPr wrap="square" rtlCol="0" anchor="ctr"/>
          <a:lstStyle/>
          <a:p>
            <a:pPr marL="0" indent="0">
              <a:lnSpc>
                <a:spcPts val="1400"/>
              </a:lnSpc>
              <a:buNone/>
            </a:pPr>
            <a:r>
              <a:rPr lang="en-US" sz="1200" dirty="0">
                <a:solidFill>
                  <a:srgbClr val="E7ECF4"/>
                </a:solidFill>
                <a:latin typeface="Calibri" pitchFamily="34" charset="0"/>
                <a:ea typeface="Calibri" pitchFamily="34" charset="-122"/>
                <a:cs typeface="Calibri" pitchFamily="34" charset="-120"/>
              </a:rPr>
              <a:t>Total Profit</a:t>
            </a:r>
            <a:endParaRPr lang="en-US" sz="1200" dirty="0"/>
          </a:p>
        </p:txBody>
      </p:sp>
      <p:sp>
        <p:nvSpPr>
          <p:cNvPr id="12" name="Shape 9"/>
          <p:cNvSpPr/>
          <p:nvPr/>
        </p:nvSpPr>
        <p:spPr>
          <a:xfrm>
            <a:off x="8046720" y="1234440"/>
            <a:ext cx="3429000" cy="960120"/>
          </a:xfrm>
          <a:prstGeom prst="roundRect">
            <a:avLst>
              <a:gd name="adj" fmla="val 8571"/>
            </a:avLst>
          </a:prstGeom>
          <a:solidFill>
            <a:srgbClr val="152238"/>
          </a:solidFill>
          <a:ln/>
          <a:effectLst>
            <a:outerShdw blurRad="101600" dist="25400" dir="5400000" algn="bl" rotWithShape="0">
              <a:srgbClr val="9AA5B1">
                <a:alpha val="25000"/>
              </a:srgbClr>
            </a:outerShdw>
          </a:effectLst>
        </p:spPr>
      </p:sp>
      <p:sp>
        <p:nvSpPr>
          <p:cNvPr id="13" name="Text 10"/>
          <p:cNvSpPr/>
          <p:nvPr/>
        </p:nvSpPr>
        <p:spPr>
          <a:xfrm>
            <a:off x="8275320" y="1307592"/>
            <a:ext cx="1737360" cy="822960"/>
          </a:xfrm>
          <a:prstGeom prst="rect">
            <a:avLst/>
          </a:prstGeom>
          <a:noFill/>
          <a:ln/>
        </p:spPr>
        <p:txBody>
          <a:bodyPr wrap="square" rtlCol="0" anchor="ctr"/>
          <a:lstStyle/>
          <a:p>
            <a:pPr marL="0" indent="0">
              <a:buNone/>
            </a:pPr>
            <a:r>
              <a:rPr lang="en-US" sz="2700" b="1" dirty="0">
                <a:solidFill>
                  <a:srgbClr val="E8A33D"/>
                </a:solidFill>
                <a:latin typeface="Cambria" pitchFamily="34" charset="0"/>
                <a:ea typeface="Cambria" pitchFamily="34" charset="-122"/>
                <a:cs typeface="Cambria" pitchFamily="34" charset="-120"/>
              </a:rPr>
              <a:t>27.74%</a:t>
            </a:r>
            <a:endParaRPr lang="en-US" sz="2700" dirty="0"/>
          </a:p>
        </p:txBody>
      </p:sp>
      <p:sp>
        <p:nvSpPr>
          <p:cNvPr id="14" name="Text 11"/>
          <p:cNvSpPr/>
          <p:nvPr/>
        </p:nvSpPr>
        <p:spPr>
          <a:xfrm>
            <a:off x="9875520" y="1234440"/>
            <a:ext cx="1463040" cy="960120"/>
          </a:xfrm>
          <a:prstGeom prst="rect">
            <a:avLst/>
          </a:prstGeom>
          <a:noFill/>
          <a:ln/>
        </p:spPr>
        <p:txBody>
          <a:bodyPr wrap="square" rtlCol="0" anchor="ctr"/>
          <a:lstStyle/>
          <a:p>
            <a:pPr marL="0" indent="0">
              <a:lnSpc>
                <a:spcPts val="1400"/>
              </a:lnSpc>
              <a:buNone/>
            </a:pPr>
            <a:r>
              <a:rPr lang="en-US" sz="1200" dirty="0">
                <a:solidFill>
                  <a:srgbClr val="E7ECF4"/>
                </a:solidFill>
                <a:latin typeface="Calibri" pitchFamily="34" charset="0"/>
                <a:ea typeface="Calibri" pitchFamily="34" charset="-122"/>
                <a:cs typeface="Calibri" pitchFamily="34" charset="-120"/>
              </a:rPr>
              <a:t>Profit Margin</a:t>
            </a:r>
            <a:endParaRPr lang="en-US" sz="1200" dirty="0"/>
          </a:p>
        </p:txBody>
      </p:sp>
      <p:sp>
        <p:nvSpPr>
          <p:cNvPr id="15" name="Shape 12"/>
          <p:cNvSpPr/>
          <p:nvPr/>
        </p:nvSpPr>
        <p:spPr>
          <a:xfrm>
            <a:off x="548640" y="2423160"/>
            <a:ext cx="5394960" cy="3977640"/>
          </a:xfrm>
          <a:prstGeom prst="roundRect">
            <a:avLst>
              <a:gd name="adj" fmla="val 2069"/>
            </a:avLst>
          </a:prstGeom>
          <a:solidFill>
            <a:srgbClr val="FFFFFF"/>
          </a:solidFill>
          <a:ln/>
          <a:effectLst>
            <a:outerShdw blurRad="101600" dist="25400" dir="5400000" algn="bl" rotWithShape="0">
              <a:srgbClr val="9AA5B1">
                <a:alpha val="25000"/>
              </a:srgbClr>
            </a:outerShdw>
          </a:effectLst>
        </p:spPr>
      </p:sp>
      <p:sp>
        <p:nvSpPr>
          <p:cNvPr id="16" name="Text 13"/>
          <p:cNvSpPr/>
          <p:nvPr/>
        </p:nvSpPr>
        <p:spPr>
          <a:xfrm>
            <a:off x="822960" y="2606040"/>
            <a:ext cx="484632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Revenue by Region ($M)</a:t>
            </a:r>
            <a:endParaRPr lang="en-US" sz="1400" dirty="0"/>
          </a:p>
        </p:txBody>
      </p:sp>
      <p:graphicFrame>
        <p:nvGraphicFramePr>
          <p:cNvPr id="17" name="Chart 0"/>
          <p:cNvGraphicFramePr/>
          <p:nvPr>
            <p:extLst>
              <p:ext uri="{D42A27DB-BD31-4B8C-83A1-F6EECF244321}">
                <p14:modId xmlns:p14="http://schemas.microsoft.com/office/powerpoint/2010/main" val="3508465713"/>
              </p:ext>
            </p:extLst>
          </p:nvPr>
        </p:nvGraphicFramePr>
        <p:xfrm>
          <a:off x="777240" y="2926080"/>
          <a:ext cx="5055524"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18" name="Shape 14"/>
          <p:cNvSpPr/>
          <p:nvPr/>
        </p:nvSpPr>
        <p:spPr>
          <a:xfrm>
            <a:off x="6217920" y="2423160"/>
            <a:ext cx="5394960" cy="3977640"/>
          </a:xfrm>
          <a:prstGeom prst="roundRect">
            <a:avLst>
              <a:gd name="adj" fmla="val 2069"/>
            </a:avLst>
          </a:prstGeom>
          <a:solidFill>
            <a:srgbClr val="FFFFFF"/>
          </a:solidFill>
          <a:ln/>
          <a:effectLst>
            <a:outerShdw blurRad="101600" dist="25400" dir="5400000" algn="bl" rotWithShape="0">
              <a:srgbClr val="9AA5B1">
                <a:alpha val="25000"/>
              </a:srgbClr>
            </a:outerShdw>
          </a:effectLst>
        </p:spPr>
      </p:sp>
      <p:sp>
        <p:nvSpPr>
          <p:cNvPr id="19" name="Text 15"/>
          <p:cNvSpPr/>
          <p:nvPr/>
        </p:nvSpPr>
        <p:spPr>
          <a:xfrm>
            <a:off x="6492240" y="2606040"/>
            <a:ext cx="484632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What This Means</a:t>
            </a:r>
            <a:endParaRPr lang="en-US" sz="1400" dirty="0"/>
          </a:p>
        </p:txBody>
      </p:sp>
      <p:sp>
        <p:nvSpPr>
          <p:cNvPr id="20" name="Shape 16"/>
          <p:cNvSpPr/>
          <p:nvPr/>
        </p:nvSpPr>
        <p:spPr>
          <a:xfrm>
            <a:off x="6492240" y="3063240"/>
            <a:ext cx="292608" cy="292608"/>
          </a:xfrm>
          <a:prstGeom prst="ellipse">
            <a:avLst/>
          </a:prstGeom>
          <a:solidFill>
            <a:srgbClr val="EAF0F8"/>
          </a:solidFill>
          <a:ln/>
        </p:spPr>
      </p:sp>
      <p:pic>
        <p:nvPicPr>
          <p:cNvPr id="21" name="Image 1" descr="icons/star.png"/>
          <p:cNvPicPr>
            <a:picLocks noChangeAspect="1"/>
          </p:cNvPicPr>
          <p:nvPr/>
        </p:nvPicPr>
        <p:blipFill>
          <a:blip r:embed="rId5"/>
          <a:stretch>
            <a:fillRect/>
          </a:stretch>
        </p:blipFill>
        <p:spPr>
          <a:xfrm>
            <a:off x="6556248" y="3127248"/>
            <a:ext cx="164592" cy="164592"/>
          </a:xfrm>
          <a:prstGeom prst="rect">
            <a:avLst/>
          </a:prstGeom>
        </p:spPr>
      </p:pic>
      <p:sp>
        <p:nvSpPr>
          <p:cNvPr id="22" name="Text 17"/>
          <p:cNvSpPr/>
          <p:nvPr/>
        </p:nvSpPr>
        <p:spPr>
          <a:xfrm>
            <a:off x="6949440" y="303580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The business is solidly profitable, keeping over a quarter of every dollar earned as profit.</a:t>
            </a:r>
            <a:endParaRPr lang="en-US" sz="1150" dirty="0"/>
          </a:p>
        </p:txBody>
      </p:sp>
      <p:sp>
        <p:nvSpPr>
          <p:cNvPr id="23" name="Shape 18"/>
          <p:cNvSpPr/>
          <p:nvPr/>
        </p:nvSpPr>
        <p:spPr>
          <a:xfrm>
            <a:off x="6492240" y="3840480"/>
            <a:ext cx="292608" cy="292608"/>
          </a:xfrm>
          <a:prstGeom prst="ellipse">
            <a:avLst/>
          </a:prstGeom>
          <a:solidFill>
            <a:srgbClr val="EAF0F8"/>
          </a:solidFill>
          <a:ln/>
        </p:spPr>
      </p:sp>
      <p:pic>
        <p:nvPicPr>
          <p:cNvPr id="24" name="Image 2" descr="icons/star.png"/>
          <p:cNvPicPr>
            <a:picLocks noChangeAspect="1"/>
          </p:cNvPicPr>
          <p:nvPr/>
        </p:nvPicPr>
        <p:blipFill>
          <a:blip r:embed="rId5"/>
          <a:stretch>
            <a:fillRect/>
          </a:stretch>
        </p:blipFill>
        <p:spPr>
          <a:xfrm>
            <a:off x="6556248" y="3904488"/>
            <a:ext cx="164592" cy="164592"/>
          </a:xfrm>
          <a:prstGeom prst="rect">
            <a:avLst/>
          </a:prstGeom>
        </p:spPr>
      </p:pic>
      <p:sp>
        <p:nvSpPr>
          <p:cNvPr id="25" name="Text 19"/>
          <p:cNvSpPr/>
          <p:nvPr/>
        </p:nvSpPr>
        <p:spPr>
          <a:xfrm>
            <a:off x="6949440" y="381304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Some product categories bring in strong revenue but a smaller profit share which is a sign to review pricing or costs.</a:t>
            </a:r>
            <a:endParaRPr lang="en-US" sz="1150" dirty="0"/>
          </a:p>
        </p:txBody>
      </p:sp>
      <p:sp>
        <p:nvSpPr>
          <p:cNvPr id="26" name="Shape 20"/>
          <p:cNvSpPr/>
          <p:nvPr/>
        </p:nvSpPr>
        <p:spPr>
          <a:xfrm>
            <a:off x="6492240" y="4617720"/>
            <a:ext cx="292608" cy="292608"/>
          </a:xfrm>
          <a:prstGeom prst="ellipse">
            <a:avLst/>
          </a:prstGeom>
          <a:solidFill>
            <a:srgbClr val="EAF0F8"/>
          </a:solidFill>
          <a:ln/>
        </p:spPr>
      </p:sp>
      <p:pic>
        <p:nvPicPr>
          <p:cNvPr id="27" name="Image 3" descr="icons/star.png"/>
          <p:cNvPicPr>
            <a:picLocks noChangeAspect="1"/>
          </p:cNvPicPr>
          <p:nvPr/>
        </p:nvPicPr>
        <p:blipFill>
          <a:blip r:embed="rId5"/>
          <a:stretch>
            <a:fillRect/>
          </a:stretch>
        </p:blipFill>
        <p:spPr>
          <a:xfrm>
            <a:off x="6556248" y="4681728"/>
            <a:ext cx="164592" cy="164592"/>
          </a:xfrm>
          <a:prstGeom prst="rect">
            <a:avLst/>
          </a:prstGeom>
        </p:spPr>
      </p:pic>
      <p:sp>
        <p:nvSpPr>
          <p:cNvPr id="28" name="Text 21"/>
          <p:cNvSpPr/>
          <p:nvPr/>
        </p:nvSpPr>
        <p:spPr>
          <a:xfrm>
            <a:off x="6949440" y="459028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East Africa leads all regions in revenue, with West and Central Africa close behind.</a:t>
            </a:r>
            <a:endParaRPr lang="en-US" sz="1150" dirty="0"/>
          </a:p>
        </p:txBody>
      </p:sp>
      <p:sp>
        <p:nvSpPr>
          <p:cNvPr id="29" name="Shape 22"/>
          <p:cNvSpPr/>
          <p:nvPr/>
        </p:nvSpPr>
        <p:spPr>
          <a:xfrm>
            <a:off x="6492240" y="5394960"/>
            <a:ext cx="292608" cy="292608"/>
          </a:xfrm>
          <a:prstGeom prst="ellipse">
            <a:avLst/>
          </a:prstGeom>
          <a:solidFill>
            <a:srgbClr val="EAF0F8"/>
          </a:solidFill>
          <a:ln/>
        </p:spPr>
      </p:sp>
      <p:pic>
        <p:nvPicPr>
          <p:cNvPr id="30" name="Image 4" descr="icons/star.png"/>
          <p:cNvPicPr>
            <a:picLocks noChangeAspect="1"/>
          </p:cNvPicPr>
          <p:nvPr/>
        </p:nvPicPr>
        <p:blipFill>
          <a:blip r:embed="rId5"/>
          <a:stretch>
            <a:fillRect/>
          </a:stretch>
        </p:blipFill>
        <p:spPr>
          <a:xfrm>
            <a:off x="6556248" y="5458968"/>
            <a:ext cx="164592" cy="164592"/>
          </a:xfrm>
          <a:prstGeom prst="rect">
            <a:avLst/>
          </a:prstGeom>
        </p:spPr>
      </p:pic>
      <p:sp>
        <p:nvSpPr>
          <p:cNvPr id="31" name="Text 23"/>
          <p:cNvSpPr/>
          <p:nvPr/>
        </p:nvSpPr>
        <p:spPr>
          <a:xfrm>
            <a:off x="6949440" y="5367528"/>
            <a:ext cx="4434840" cy="6858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A small group of top suppliers drives a large share of total profit, which is valuable but also a risk if relied on too heavily.</a:t>
            </a:r>
            <a:endParaRPr lang="en-US" sz="1150" dirty="0"/>
          </a:p>
        </p:txBody>
      </p:sp>
      <p:sp>
        <p:nvSpPr>
          <p:cNvPr id="32" name="Text 2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GlobalMart Supply Chain Analytics</a:t>
            </a:r>
            <a:endParaRPr lang="en-US" sz="900" dirty="0"/>
          </a:p>
        </p:txBody>
      </p:sp>
      <p:sp>
        <p:nvSpPr>
          <p:cNvPr id="33" name="Text 25"/>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box.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OPERATIONS &amp; LOGISTICS</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Inventory Optimization Insights</a:t>
            </a:r>
            <a:endParaRPr lang="en-US" sz="2600" dirty="0"/>
          </a:p>
        </p:txBody>
      </p:sp>
      <p:sp>
        <p:nvSpPr>
          <p:cNvPr id="6" name="Text 3"/>
          <p:cNvSpPr/>
          <p:nvPr/>
        </p:nvSpPr>
        <p:spPr>
          <a:xfrm>
            <a:off x="548640" y="1234440"/>
            <a:ext cx="10881360" cy="685800"/>
          </a:xfrm>
          <a:prstGeom prst="rect">
            <a:avLst/>
          </a:prstGeom>
          <a:noFill/>
          <a:ln/>
        </p:spPr>
        <p:txBody>
          <a:bodyPr wrap="square" rtlCol="0" anchor="ctr"/>
          <a:lstStyle/>
          <a:p>
            <a:pPr marL="0" indent="0">
              <a:lnSpc>
                <a:spcPts val="2000"/>
              </a:lnSpc>
              <a:buNone/>
            </a:pPr>
            <a:r>
              <a:rPr lang="en-US" sz="1450" dirty="0">
                <a:solidFill>
                  <a:srgbClr val="1B2430"/>
                </a:solidFill>
                <a:latin typeface="Calibri" pitchFamily="34" charset="0"/>
                <a:ea typeface="Calibri" pitchFamily="34" charset="-122"/>
                <a:cs typeface="Calibri" pitchFamily="34" charset="-120"/>
              </a:rPr>
              <a:t>Comparing how much stock GlobalMart holds against how much customers actually order reveals where warehouse space and cash are being used efficiently and where they aren't.</a:t>
            </a:r>
            <a:endParaRPr lang="en-US" sz="1450" dirty="0"/>
          </a:p>
        </p:txBody>
      </p:sp>
      <p:sp>
        <p:nvSpPr>
          <p:cNvPr id="7" name="Shape 4"/>
          <p:cNvSpPr/>
          <p:nvPr/>
        </p:nvSpPr>
        <p:spPr>
          <a:xfrm>
            <a:off x="548640" y="2103120"/>
            <a:ext cx="6766560" cy="4206240"/>
          </a:xfrm>
          <a:prstGeom prst="roundRect">
            <a:avLst>
              <a:gd name="adj" fmla="val 1957"/>
            </a:avLst>
          </a:prstGeom>
          <a:solidFill>
            <a:srgbClr val="FFFFFF"/>
          </a:solidFill>
          <a:ln/>
          <a:effectLst>
            <a:outerShdw blurRad="101600" dist="25400" dir="5400000" algn="bl" rotWithShape="0">
              <a:srgbClr val="9AA5B1">
                <a:alpha val="25000"/>
              </a:srgbClr>
            </a:outerShdw>
          </a:effectLst>
        </p:spPr>
      </p:sp>
      <p:sp>
        <p:nvSpPr>
          <p:cNvPr id="8" name="Text 5"/>
          <p:cNvSpPr/>
          <p:nvPr/>
        </p:nvSpPr>
        <p:spPr>
          <a:xfrm>
            <a:off x="822960" y="2286000"/>
            <a:ext cx="594360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Stock Level vs. Quantity Ordered</a:t>
            </a:r>
            <a:endParaRPr lang="en-US" sz="1400" dirty="0"/>
          </a:p>
        </p:txBody>
      </p:sp>
      <p:graphicFrame>
        <p:nvGraphicFramePr>
          <p:cNvPr id="9" name="Chart 0"/>
          <p:cNvGraphicFramePr/>
          <p:nvPr/>
        </p:nvGraphicFramePr>
        <p:xfrm>
          <a:off x="777240" y="2651760"/>
          <a:ext cx="649224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7498080" y="2103120"/>
            <a:ext cx="4114800" cy="4206240"/>
          </a:xfrm>
          <a:prstGeom prst="roundRect">
            <a:avLst>
              <a:gd name="adj" fmla="val 2000"/>
            </a:avLst>
          </a:prstGeom>
          <a:solidFill>
            <a:srgbClr val="FFFFFF"/>
          </a:solidFill>
          <a:ln/>
          <a:effectLst>
            <a:outerShdw blurRad="101600" dist="25400" dir="5400000" algn="bl" rotWithShape="0">
              <a:srgbClr val="9AA5B1">
                <a:alpha val="25000"/>
              </a:srgbClr>
            </a:outerShdw>
          </a:effectLst>
        </p:spPr>
      </p:sp>
      <p:sp>
        <p:nvSpPr>
          <p:cNvPr id="11" name="Text 7"/>
          <p:cNvSpPr/>
          <p:nvPr/>
        </p:nvSpPr>
        <p:spPr>
          <a:xfrm>
            <a:off x="7772400" y="2286000"/>
            <a:ext cx="356616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What This Means</a:t>
            </a:r>
            <a:endParaRPr lang="en-US" sz="1400" dirty="0"/>
          </a:p>
        </p:txBody>
      </p:sp>
      <p:sp>
        <p:nvSpPr>
          <p:cNvPr id="12" name="Shape 8"/>
          <p:cNvSpPr/>
          <p:nvPr/>
        </p:nvSpPr>
        <p:spPr>
          <a:xfrm>
            <a:off x="7772400" y="2788920"/>
            <a:ext cx="292608" cy="292608"/>
          </a:xfrm>
          <a:prstGeom prst="ellipse">
            <a:avLst/>
          </a:prstGeom>
          <a:solidFill>
            <a:srgbClr val="EAF0F8"/>
          </a:solidFill>
          <a:ln/>
        </p:spPr>
      </p:sp>
      <p:pic>
        <p:nvPicPr>
          <p:cNvPr id="13" name="Image 1" descr="icons/layers.png"/>
          <p:cNvPicPr>
            <a:picLocks noChangeAspect="1"/>
          </p:cNvPicPr>
          <p:nvPr/>
        </p:nvPicPr>
        <p:blipFill>
          <a:blip r:embed="rId5"/>
          <a:stretch>
            <a:fillRect/>
          </a:stretch>
        </p:blipFill>
        <p:spPr>
          <a:xfrm>
            <a:off x="7836408" y="2852928"/>
            <a:ext cx="164592" cy="164592"/>
          </a:xfrm>
          <a:prstGeom prst="rect">
            <a:avLst/>
          </a:prstGeom>
        </p:spPr>
      </p:pic>
      <p:sp>
        <p:nvSpPr>
          <p:cNvPr id="14" name="Text 9"/>
          <p:cNvSpPr/>
          <p:nvPr/>
        </p:nvSpPr>
        <p:spPr>
          <a:xfrm>
            <a:off x="8229600" y="2761488"/>
            <a:ext cx="3200400" cy="9144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Stock levels sit above customer demand in nearly every product category which is good for avoiding stockouts, costly for storage.</a:t>
            </a:r>
            <a:endParaRPr lang="en-US" sz="1150" dirty="0"/>
          </a:p>
        </p:txBody>
      </p:sp>
      <p:sp>
        <p:nvSpPr>
          <p:cNvPr id="15" name="Shape 10"/>
          <p:cNvSpPr/>
          <p:nvPr/>
        </p:nvSpPr>
        <p:spPr>
          <a:xfrm>
            <a:off x="7772400" y="3840480"/>
            <a:ext cx="292608" cy="292608"/>
          </a:xfrm>
          <a:prstGeom prst="ellipse">
            <a:avLst/>
          </a:prstGeom>
          <a:solidFill>
            <a:srgbClr val="EAF0F8"/>
          </a:solidFill>
          <a:ln/>
        </p:spPr>
      </p:sp>
      <p:pic>
        <p:nvPicPr>
          <p:cNvPr id="16" name="Image 2" descr="icons/layers.png"/>
          <p:cNvPicPr>
            <a:picLocks noChangeAspect="1"/>
          </p:cNvPicPr>
          <p:nvPr/>
        </p:nvPicPr>
        <p:blipFill>
          <a:blip r:embed="rId5"/>
          <a:stretch>
            <a:fillRect/>
          </a:stretch>
        </p:blipFill>
        <p:spPr>
          <a:xfrm>
            <a:off x="7836408" y="3904488"/>
            <a:ext cx="164592" cy="164592"/>
          </a:xfrm>
          <a:prstGeom prst="rect">
            <a:avLst/>
          </a:prstGeom>
        </p:spPr>
      </p:pic>
      <p:sp>
        <p:nvSpPr>
          <p:cNvPr id="17" name="Text 11"/>
          <p:cNvSpPr/>
          <p:nvPr/>
        </p:nvSpPr>
        <p:spPr>
          <a:xfrm>
            <a:off x="8229600" y="3813048"/>
            <a:ext cx="3200400" cy="9144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Sports &amp; Fitness and Office Supplies show the largest gap between what's stocked and what's ordered.</a:t>
            </a:r>
            <a:endParaRPr lang="en-US" sz="1150" dirty="0"/>
          </a:p>
        </p:txBody>
      </p:sp>
      <p:sp>
        <p:nvSpPr>
          <p:cNvPr id="18" name="Shape 12"/>
          <p:cNvSpPr/>
          <p:nvPr/>
        </p:nvSpPr>
        <p:spPr>
          <a:xfrm>
            <a:off x="7772400" y="4892040"/>
            <a:ext cx="292608" cy="292608"/>
          </a:xfrm>
          <a:prstGeom prst="ellipse">
            <a:avLst/>
          </a:prstGeom>
          <a:solidFill>
            <a:srgbClr val="EAF0F8"/>
          </a:solidFill>
          <a:ln/>
        </p:spPr>
      </p:sp>
      <p:pic>
        <p:nvPicPr>
          <p:cNvPr id="19" name="Image 3" descr="icons/layers.png"/>
          <p:cNvPicPr>
            <a:picLocks noChangeAspect="1"/>
          </p:cNvPicPr>
          <p:nvPr/>
        </p:nvPicPr>
        <p:blipFill>
          <a:blip r:embed="rId5"/>
          <a:stretch>
            <a:fillRect/>
          </a:stretch>
        </p:blipFill>
        <p:spPr>
          <a:xfrm>
            <a:off x="7836408" y="4956048"/>
            <a:ext cx="164592" cy="164592"/>
          </a:xfrm>
          <a:prstGeom prst="rect">
            <a:avLst/>
          </a:prstGeom>
        </p:spPr>
      </p:pic>
      <p:sp>
        <p:nvSpPr>
          <p:cNvPr id="20" name="Text 13"/>
          <p:cNvSpPr/>
          <p:nvPr/>
        </p:nvSpPr>
        <p:spPr>
          <a:xfrm>
            <a:off x="8229600" y="4864608"/>
            <a:ext cx="3200400" cy="914400"/>
          </a:xfrm>
          <a:prstGeom prst="rect">
            <a:avLst/>
          </a:prstGeom>
          <a:noFill/>
          <a:ln/>
        </p:spPr>
        <p:txBody>
          <a:bodyPr wrap="square" rtlCol="0" anchor="ctr"/>
          <a:lstStyle/>
          <a:p>
            <a:pPr marL="0" indent="0">
              <a:lnSpc>
                <a:spcPts val="1400"/>
              </a:lnSpc>
              <a:buNone/>
            </a:pPr>
            <a:r>
              <a:rPr lang="en-US" sz="1150" dirty="0">
                <a:solidFill>
                  <a:srgbClr val="1B2430"/>
                </a:solidFill>
                <a:latin typeface="Calibri" pitchFamily="34" charset="0"/>
                <a:ea typeface="Calibri" pitchFamily="34" charset="-122"/>
                <a:cs typeface="Calibri" pitchFamily="34" charset="-120"/>
              </a:rPr>
              <a:t>Right-sizing inventory in the highest-gap categories could free up cash without hurting order fulfillment.</a:t>
            </a:r>
            <a:endParaRPr lang="en-US" sz="1150" dirty="0"/>
          </a:p>
        </p:txBody>
      </p:sp>
      <p:sp>
        <p:nvSpPr>
          <p:cNvPr id="21" name="Text 1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GlobalMart Supply Chain Analytics</a:t>
            </a:r>
            <a:endParaRPr lang="en-US" sz="900" dirty="0"/>
          </a:p>
        </p:txBody>
      </p:sp>
      <p:sp>
        <p:nvSpPr>
          <p:cNvPr id="22" name="Text 15"/>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trend.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THE BIGGER PICTURE</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Business Trends &amp; Patterns</a:t>
            </a:r>
            <a:endParaRPr lang="en-US" sz="2600" dirty="0"/>
          </a:p>
        </p:txBody>
      </p:sp>
      <p:sp>
        <p:nvSpPr>
          <p:cNvPr id="6" name="Text 3"/>
          <p:cNvSpPr/>
          <p:nvPr/>
        </p:nvSpPr>
        <p:spPr>
          <a:xfrm>
            <a:off x="548640" y="1234440"/>
            <a:ext cx="10881360" cy="50292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Looking at performance over time and across regions shows patterns that a single snapshot would miss — useful for planning ahead, not just reacting.</a:t>
            </a:r>
            <a:endParaRPr lang="en-US" sz="1450" dirty="0"/>
          </a:p>
        </p:txBody>
      </p:sp>
      <p:sp>
        <p:nvSpPr>
          <p:cNvPr id="7" name="Shape 4"/>
          <p:cNvSpPr/>
          <p:nvPr/>
        </p:nvSpPr>
        <p:spPr>
          <a:xfrm>
            <a:off x="548640" y="1965960"/>
            <a:ext cx="10881360" cy="2788920"/>
          </a:xfrm>
          <a:prstGeom prst="roundRect">
            <a:avLst>
              <a:gd name="adj" fmla="val 2951"/>
            </a:avLst>
          </a:prstGeom>
          <a:solidFill>
            <a:srgbClr val="FFFFFF"/>
          </a:solidFill>
          <a:ln/>
          <a:effectLst>
            <a:outerShdw blurRad="101600" dist="25400" dir="5400000" algn="bl" rotWithShape="0">
              <a:srgbClr val="9AA5B1">
                <a:alpha val="25000"/>
              </a:srgbClr>
            </a:outerShdw>
          </a:effectLst>
        </p:spPr>
      </p:sp>
      <p:sp>
        <p:nvSpPr>
          <p:cNvPr id="8" name="Text 5"/>
          <p:cNvSpPr/>
          <p:nvPr/>
        </p:nvSpPr>
        <p:spPr>
          <a:xfrm>
            <a:off x="822960" y="2121408"/>
            <a:ext cx="5486400" cy="320040"/>
          </a:xfrm>
          <a:prstGeom prst="rect">
            <a:avLst/>
          </a:prstGeom>
          <a:noFill/>
          <a:ln/>
        </p:spPr>
        <p:txBody>
          <a:bodyPr wrap="square" rtlCol="0" anchor="ctr"/>
          <a:lstStyle/>
          <a:p>
            <a:pPr marL="0" indent="0">
              <a:buNone/>
            </a:pPr>
            <a:r>
              <a:rPr lang="en-US" sz="1400" b="1" dirty="0">
                <a:solidFill>
                  <a:srgbClr val="152238"/>
                </a:solidFill>
                <a:latin typeface="Cambria" pitchFamily="34" charset="0"/>
                <a:ea typeface="Cambria" pitchFamily="34" charset="-122"/>
                <a:cs typeface="Cambria" pitchFamily="34" charset="-120"/>
              </a:rPr>
              <a:t>Monthly Revenue Trend</a:t>
            </a:r>
            <a:endParaRPr lang="en-US" sz="1400" dirty="0"/>
          </a:p>
        </p:txBody>
      </p:sp>
      <p:graphicFrame>
        <p:nvGraphicFramePr>
          <p:cNvPr id="9" name="Chart 0"/>
          <p:cNvGraphicFramePr/>
          <p:nvPr/>
        </p:nvGraphicFramePr>
        <p:xfrm>
          <a:off x="777240" y="2468880"/>
          <a:ext cx="1042416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548640" y="4937760"/>
            <a:ext cx="3502152" cy="1828800"/>
          </a:xfrm>
          <a:prstGeom prst="roundRect">
            <a:avLst>
              <a:gd name="adj" fmla="val 4500"/>
            </a:avLst>
          </a:prstGeom>
          <a:solidFill>
            <a:srgbClr val="FFFFFF"/>
          </a:solidFill>
          <a:ln/>
          <a:effectLst>
            <a:outerShdw blurRad="101600" dist="25400" dir="5400000" algn="bl" rotWithShape="0">
              <a:srgbClr val="9AA5B1">
                <a:alpha val="25000"/>
              </a:srgbClr>
            </a:outerShdw>
          </a:effectLst>
        </p:spPr>
      </p:sp>
      <p:sp>
        <p:nvSpPr>
          <p:cNvPr id="11" name="Shape 7"/>
          <p:cNvSpPr/>
          <p:nvPr/>
        </p:nvSpPr>
        <p:spPr>
          <a:xfrm>
            <a:off x="804672" y="5193792"/>
            <a:ext cx="457200" cy="457200"/>
          </a:xfrm>
          <a:prstGeom prst="ellipse">
            <a:avLst/>
          </a:prstGeom>
          <a:solidFill>
            <a:srgbClr val="EAF0F8"/>
          </a:solidFill>
          <a:ln/>
        </p:spPr>
      </p:sp>
      <p:pic>
        <p:nvPicPr>
          <p:cNvPr id="12" name="Image 1" descr="icons/map.png"/>
          <p:cNvPicPr>
            <a:picLocks noChangeAspect="1"/>
          </p:cNvPicPr>
          <p:nvPr/>
        </p:nvPicPr>
        <p:blipFill>
          <a:blip r:embed="rId5"/>
          <a:stretch>
            <a:fillRect/>
          </a:stretch>
        </p:blipFill>
        <p:spPr>
          <a:xfrm>
            <a:off x="905256" y="5294376"/>
            <a:ext cx="256032" cy="256032"/>
          </a:xfrm>
          <a:prstGeom prst="rect">
            <a:avLst/>
          </a:prstGeom>
        </p:spPr>
      </p:pic>
      <p:sp>
        <p:nvSpPr>
          <p:cNvPr id="13" name="Text 8"/>
          <p:cNvSpPr/>
          <p:nvPr/>
        </p:nvSpPr>
        <p:spPr>
          <a:xfrm>
            <a:off x="1417320" y="5157216"/>
            <a:ext cx="2404872" cy="50292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Regional Strength</a:t>
            </a:r>
            <a:endParaRPr lang="en-US" sz="1350" dirty="0"/>
          </a:p>
        </p:txBody>
      </p:sp>
      <p:sp>
        <p:nvSpPr>
          <p:cNvPr id="14" name="Text 9"/>
          <p:cNvSpPr/>
          <p:nvPr/>
        </p:nvSpPr>
        <p:spPr>
          <a:xfrm>
            <a:off x="804672" y="5760720"/>
            <a:ext cx="2990088" cy="91440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East, West, and Central Africa consistently outperform other regions in revenue, this signify a pattern worth replicating elsewhere.</a:t>
            </a:r>
            <a:endParaRPr lang="en-US" sz="1080" dirty="0"/>
          </a:p>
        </p:txBody>
      </p:sp>
      <p:sp>
        <p:nvSpPr>
          <p:cNvPr id="15" name="Shape 10"/>
          <p:cNvSpPr/>
          <p:nvPr/>
        </p:nvSpPr>
        <p:spPr>
          <a:xfrm>
            <a:off x="4233672" y="4937760"/>
            <a:ext cx="3502152" cy="1828800"/>
          </a:xfrm>
          <a:prstGeom prst="roundRect">
            <a:avLst>
              <a:gd name="adj" fmla="val 4500"/>
            </a:avLst>
          </a:prstGeom>
          <a:solidFill>
            <a:srgbClr val="FFFFFF"/>
          </a:solidFill>
          <a:ln/>
          <a:effectLst>
            <a:outerShdw blurRad="101600" dist="25400" dir="5400000" algn="bl" rotWithShape="0">
              <a:srgbClr val="9AA5B1">
                <a:alpha val="25000"/>
              </a:srgbClr>
            </a:outerShdw>
          </a:effectLst>
        </p:spPr>
      </p:sp>
      <p:sp>
        <p:nvSpPr>
          <p:cNvPr id="16" name="Shape 11"/>
          <p:cNvSpPr/>
          <p:nvPr/>
        </p:nvSpPr>
        <p:spPr>
          <a:xfrm>
            <a:off x="4489704" y="5193792"/>
            <a:ext cx="457200" cy="457200"/>
          </a:xfrm>
          <a:prstGeom prst="ellipse">
            <a:avLst/>
          </a:prstGeom>
          <a:solidFill>
            <a:srgbClr val="EAF0F8"/>
          </a:solidFill>
          <a:ln/>
        </p:spPr>
      </p:sp>
      <p:pic>
        <p:nvPicPr>
          <p:cNvPr id="17" name="Image 2" descr="icons/clock.png"/>
          <p:cNvPicPr>
            <a:picLocks noChangeAspect="1"/>
          </p:cNvPicPr>
          <p:nvPr/>
        </p:nvPicPr>
        <p:blipFill>
          <a:blip r:embed="rId6"/>
          <a:stretch>
            <a:fillRect/>
          </a:stretch>
        </p:blipFill>
        <p:spPr>
          <a:xfrm>
            <a:off x="4590288" y="5294376"/>
            <a:ext cx="256032" cy="256032"/>
          </a:xfrm>
          <a:prstGeom prst="rect">
            <a:avLst/>
          </a:prstGeom>
        </p:spPr>
      </p:pic>
      <p:sp>
        <p:nvSpPr>
          <p:cNvPr id="18" name="Text 12"/>
          <p:cNvSpPr/>
          <p:nvPr/>
        </p:nvSpPr>
        <p:spPr>
          <a:xfrm>
            <a:off x="5102352" y="5157216"/>
            <a:ext cx="2404872" cy="50292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Seasonal Swings</a:t>
            </a:r>
            <a:endParaRPr lang="en-US" sz="1350" dirty="0"/>
          </a:p>
        </p:txBody>
      </p:sp>
      <p:sp>
        <p:nvSpPr>
          <p:cNvPr id="19" name="Text 13"/>
          <p:cNvSpPr/>
          <p:nvPr/>
        </p:nvSpPr>
        <p:spPr>
          <a:xfrm>
            <a:off x="4489704" y="5760720"/>
            <a:ext cx="2990088" cy="91440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Revenue rises and falls noticeably month to month, pointing to seasonal demand rather than a steady, predictable pace.</a:t>
            </a:r>
            <a:endParaRPr lang="en-US" sz="1080" dirty="0"/>
          </a:p>
        </p:txBody>
      </p:sp>
      <p:sp>
        <p:nvSpPr>
          <p:cNvPr id="20" name="Shape 14"/>
          <p:cNvSpPr/>
          <p:nvPr/>
        </p:nvSpPr>
        <p:spPr>
          <a:xfrm>
            <a:off x="7918704" y="4937760"/>
            <a:ext cx="3502152" cy="1828800"/>
          </a:xfrm>
          <a:prstGeom prst="roundRect">
            <a:avLst>
              <a:gd name="adj" fmla="val 4500"/>
            </a:avLst>
          </a:prstGeom>
          <a:solidFill>
            <a:srgbClr val="FFFFFF"/>
          </a:solidFill>
          <a:ln/>
          <a:effectLst>
            <a:outerShdw blurRad="101600" dist="25400" dir="5400000" algn="bl" rotWithShape="0">
              <a:srgbClr val="9AA5B1">
                <a:alpha val="25000"/>
              </a:srgbClr>
            </a:outerShdw>
          </a:effectLst>
        </p:spPr>
      </p:sp>
      <p:sp>
        <p:nvSpPr>
          <p:cNvPr id="21" name="Shape 15"/>
          <p:cNvSpPr/>
          <p:nvPr/>
        </p:nvSpPr>
        <p:spPr>
          <a:xfrm>
            <a:off x="8174736" y="5193792"/>
            <a:ext cx="457200" cy="457200"/>
          </a:xfrm>
          <a:prstGeom prst="ellipse">
            <a:avLst/>
          </a:prstGeom>
          <a:solidFill>
            <a:srgbClr val="EAF0F8"/>
          </a:solidFill>
          <a:ln/>
        </p:spPr>
      </p:sp>
      <p:pic>
        <p:nvPicPr>
          <p:cNvPr id="22" name="Image 3" descr="icons/users.png"/>
          <p:cNvPicPr>
            <a:picLocks noChangeAspect="1"/>
          </p:cNvPicPr>
          <p:nvPr/>
        </p:nvPicPr>
        <p:blipFill>
          <a:blip r:embed="rId7"/>
          <a:stretch>
            <a:fillRect/>
          </a:stretch>
        </p:blipFill>
        <p:spPr>
          <a:xfrm>
            <a:off x="8275320" y="5294376"/>
            <a:ext cx="256032" cy="256032"/>
          </a:xfrm>
          <a:prstGeom prst="rect">
            <a:avLst/>
          </a:prstGeom>
        </p:spPr>
      </p:pic>
      <p:sp>
        <p:nvSpPr>
          <p:cNvPr id="23" name="Text 16"/>
          <p:cNvSpPr/>
          <p:nvPr/>
        </p:nvSpPr>
        <p:spPr>
          <a:xfrm>
            <a:off x="8787384" y="5157216"/>
            <a:ext cx="2404872" cy="50292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Supplier Concentration</a:t>
            </a:r>
            <a:endParaRPr lang="en-US" sz="1350" dirty="0"/>
          </a:p>
        </p:txBody>
      </p:sp>
      <p:sp>
        <p:nvSpPr>
          <p:cNvPr id="24" name="Text 17"/>
          <p:cNvSpPr/>
          <p:nvPr/>
        </p:nvSpPr>
        <p:spPr>
          <a:xfrm>
            <a:off x="8174736" y="5760720"/>
            <a:ext cx="2990088" cy="91440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A small number of suppliers account for a disproportionate share of both revenue and delivery risk.</a:t>
            </a:r>
            <a:endParaRPr lang="en-US" sz="1080" dirty="0"/>
          </a:p>
        </p:txBody>
      </p:sp>
      <p:sp>
        <p:nvSpPr>
          <p:cNvPr id="26" name="Text 19"/>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E8A33D"/>
          </a:solidFill>
          <a:ln/>
        </p:spPr>
      </p:sp>
      <p:pic>
        <p:nvPicPr>
          <p:cNvPr id="3" name="Image 0" descr="icons/target.png"/>
          <p:cNvPicPr>
            <a:picLocks noChangeAspect="1"/>
          </p:cNvPicPr>
          <p:nvPr/>
        </p:nvPicPr>
        <p:blipFill>
          <a:blip r:embed="rId3"/>
          <a:stretch>
            <a:fillRect/>
          </a:stretch>
        </p:blipFill>
        <p:spPr>
          <a:xfrm>
            <a:off x="649224" y="557784"/>
            <a:ext cx="256032" cy="256032"/>
          </a:xfrm>
          <a:prstGeom prst="rect">
            <a:avLst/>
          </a:prstGeom>
        </p:spPr>
      </p:pic>
      <p:sp>
        <p:nvSpPr>
          <p:cNvPr id="4" name="Text 1"/>
          <p:cNvSpPr/>
          <p:nvPr/>
        </p:nvSpPr>
        <p:spPr>
          <a:xfrm>
            <a:off x="1143000" y="429768"/>
            <a:ext cx="7315200" cy="256032"/>
          </a:xfrm>
          <a:prstGeom prst="rect">
            <a:avLst/>
          </a:prstGeom>
          <a:noFill/>
          <a:ln/>
        </p:spPr>
        <p:txBody>
          <a:bodyPr wrap="square" rtlCol="0" anchor="ctr"/>
          <a:lstStyle/>
          <a:p>
            <a:pPr marL="0" indent="0">
              <a:buNone/>
            </a:pPr>
            <a:r>
              <a:rPr lang="en-US" sz="1200" b="1" kern="0" spc="150" dirty="0">
                <a:solidFill>
                  <a:srgbClr val="3B5D82"/>
                </a:solidFill>
                <a:latin typeface="Calibri" pitchFamily="34" charset="0"/>
                <a:ea typeface="Calibri" pitchFamily="34" charset="-122"/>
                <a:cs typeface="Calibri" pitchFamily="34" charset="-120"/>
              </a:rPr>
              <a:t>WHAT LEADERSHIP SHOULD DO NEXT</a:t>
            </a:r>
            <a:endParaRPr lang="en-US" sz="1200" dirty="0"/>
          </a:p>
        </p:txBody>
      </p:sp>
      <p:sp>
        <p:nvSpPr>
          <p:cNvPr id="5" name="Text 2"/>
          <p:cNvSpPr/>
          <p:nvPr/>
        </p:nvSpPr>
        <p:spPr>
          <a:xfrm>
            <a:off x="1143000" y="640080"/>
            <a:ext cx="9601200" cy="502920"/>
          </a:xfrm>
          <a:prstGeom prst="rect">
            <a:avLst/>
          </a:prstGeom>
          <a:noFill/>
          <a:ln/>
        </p:spPr>
        <p:txBody>
          <a:bodyPr wrap="square" rtlCol="0" anchor="ctr"/>
          <a:lstStyle/>
          <a:p>
            <a:pPr marL="0" indent="0">
              <a:buNone/>
            </a:pPr>
            <a:r>
              <a:rPr lang="en-US" sz="2600" b="1" dirty="0">
                <a:solidFill>
                  <a:srgbClr val="152238"/>
                </a:solidFill>
                <a:latin typeface="Cambria" pitchFamily="34" charset="0"/>
                <a:ea typeface="Cambria" pitchFamily="34" charset="-122"/>
                <a:cs typeface="Cambria" pitchFamily="34" charset="-120"/>
              </a:rPr>
              <a:t>Strategic Recommendations</a:t>
            </a:r>
            <a:endParaRPr lang="en-US" sz="2600" dirty="0"/>
          </a:p>
        </p:txBody>
      </p:sp>
      <p:sp>
        <p:nvSpPr>
          <p:cNvPr id="6" name="Shape 3"/>
          <p:cNvSpPr/>
          <p:nvPr/>
        </p:nvSpPr>
        <p:spPr>
          <a:xfrm>
            <a:off x="548640" y="1371600"/>
            <a:ext cx="3502152" cy="2331720"/>
          </a:xfrm>
          <a:prstGeom prst="roundRect">
            <a:avLst>
              <a:gd name="adj" fmla="val 3529"/>
            </a:avLst>
          </a:prstGeom>
          <a:solidFill>
            <a:srgbClr val="FFFFFF"/>
          </a:solidFill>
          <a:ln/>
          <a:effectLst>
            <a:outerShdw blurRad="101600" dist="25400" dir="5400000" algn="bl" rotWithShape="0">
              <a:srgbClr val="9AA5B1">
                <a:alpha val="25000"/>
              </a:srgbClr>
            </a:outerShdw>
          </a:effectLst>
        </p:spPr>
      </p:sp>
      <p:sp>
        <p:nvSpPr>
          <p:cNvPr id="7" name="Shape 4"/>
          <p:cNvSpPr/>
          <p:nvPr/>
        </p:nvSpPr>
        <p:spPr>
          <a:xfrm>
            <a:off x="548640" y="1371600"/>
            <a:ext cx="3502152" cy="91440"/>
          </a:xfrm>
          <a:prstGeom prst="roundRect">
            <a:avLst>
              <a:gd name="adj" fmla="val 50000"/>
            </a:avLst>
          </a:prstGeom>
          <a:solidFill>
            <a:srgbClr val="E8A33D"/>
          </a:solidFill>
          <a:ln/>
        </p:spPr>
      </p:sp>
      <p:sp>
        <p:nvSpPr>
          <p:cNvPr id="8" name="Shape 5"/>
          <p:cNvSpPr/>
          <p:nvPr/>
        </p:nvSpPr>
        <p:spPr>
          <a:xfrm>
            <a:off x="804672" y="1691640"/>
            <a:ext cx="548640" cy="548640"/>
          </a:xfrm>
          <a:prstGeom prst="ellipse">
            <a:avLst/>
          </a:prstGeom>
          <a:solidFill>
            <a:srgbClr val="152238"/>
          </a:solidFill>
          <a:ln/>
        </p:spPr>
      </p:sp>
      <p:pic>
        <p:nvPicPr>
          <p:cNvPr id="9" name="Image 1" descr="icons/truck.png"/>
          <p:cNvPicPr>
            <a:picLocks noChangeAspect="1"/>
          </p:cNvPicPr>
          <p:nvPr/>
        </p:nvPicPr>
        <p:blipFill>
          <a:blip r:embed="rId4"/>
          <a:stretch>
            <a:fillRect/>
          </a:stretch>
        </p:blipFill>
        <p:spPr>
          <a:xfrm>
            <a:off x="932688" y="1819656"/>
            <a:ext cx="292608" cy="292608"/>
          </a:xfrm>
          <a:prstGeom prst="rect">
            <a:avLst/>
          </a:prstGeom>
        </p:spPr>
      </p:pic>
      <p:sp>
        <p:nvSpPr>
          <p:cNvPr id="10" name="Text 6"/>
          <p:cNvSpPr/>
          <p:nvPr/>
        </p:nvSpPr>
        <p:spPr>
          <a:xfrm>
            <a:off x="3547872" y="1600200"/>
            <a:ext cx="365760" cy="365760"/>
          </a:xfrm>
          <a:prstGeom prst="rect">
            <a:avLst/>
          </a:prstGeom>
          <a:noFill/>
          <a:ln/>
        </p:spPr>
        <p:txBody>
          <a:bodyPr wrap="square" rtlCol="0" anchor="ctr"/>
          <a:lstStyle/>
          <a:p>
            <a:pPr marL="0" indent="0" algn="r">
              <a:buNone/>
            </a:pPr>
            <a:r>
              <a:rPr lang="en-US" sz="1600" b="1" dirty="0">
                <a:solidFill>
                  <a:srgbClr val="C7D0DC"/>
                </a:solidFill>
                <a:latin typeface="Cambria" pitchFamily="34" charset="0"/>
                <a:ea typeface="Cambria" pitchFamily="34" charset="-122"/>
                <a:cs typeface="Cambria" pitchFamily="34" charset="-120"/>
              </a:rPr>
              <a:t>1</a:t>
            </a:r>
            <a:endParaRPr lang="en-US" sz="1600" dirty="0"/>
          </a:p>
        </p:txBody>
      </p:sp>
      <p:sp>
        <p:nvSpPr>
          <p:cNvPr id="11" name="Text 7"/>
          <p:cNvSpPr/>
          <p:nvPr/>
        </p:nvSpPr>
        <p:spPr>
          <a:xfrm>
            <a:off x="804672" y="2331720"/>
            <a:ext cx="2990088" cy="45720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Fix Late Deliveries First</a:t>
            </a:r>
            <a:endParaRPr lang="en-US" sz="1350" dirty="0"/>
          </a:p>
        </p:txBody>
      </p:sp>
      <p:sp>
        <p:nvSpPr>
          <p:cNvPr id="12" name="Text 8"/>
          <p:cNvSpPr/>
          <p:nvPr/>
        </p:nvSpPr>
        <p:spPr>
          <a:xfrm>
            <a:off x="804672" y="2788920"/>
            <a:ext cx="2990088" cy="82296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Investigate why two out of three orders arrive late, starting with the lowest-performing suppliers and shipping modes.</a:t>
            </a:r>
            <a:endParaRPr lang="en-US" sz="1080" dirty="0"/>
          </a:p>
        </p:txBody>
      </p:sp>
      <p:sp>
        <p:nvSpPr>
          <p:cNvPr id="13" name="Shape 9"/>
          <p:cNvSpPr/>
          <p:nvPr/>
        </p:nvSpPr>
        <p:spPr>
          <a:xfrm>
            <a:off x="4233672" y="1371600"/>
            <a:ext cx="3502152" cy="2331720"/>
          </a:xfrm>
          <a:prstGeom prst="roundRect">
            <a:avLst>
              <a:gd name="adj" fmla="val 3529"/>
            </a:avLst>
          </a:prstGeom>
          <a:solidFill>
            <a:srgbClr val="FFFFFF"/>
          </a:solidFill>
          <a:ln/>
          <a:effectLst>
            <a:outerShdw blurRad="101600" dist="25400" dir="5400000" algn="bl" rotWithShape="0">
              <a:srgbClr val="9AA5B1">
                <a:alpha val="25000"/>
              </a:srgbClr>
            </a:outerShdw>
          </a:effectLst>
        </p:spPr>
      </p:sp>
      <p:sp>
        <p:nvSpPr>
          <p:cNvPr id="14" name="Shape 10"/>
          <p:cNvSpPr/>
          <p:nvPr/>
        </p:nvSpPr>
        <p:spPr>
          <a:xfrm>
            <a:off x="4233672" y="1371600"/>
            <a:ext cx="3502152" cy="91440"/>
          </a:xfrm>
          <a:prstGeom prst="roundRect">
            <a:avLst>
              <a:gd name="adj" fmla="val 50000"/>
            </a:avLst>
          </a:prstGeom>
          <a:solidFill>
            <a:srgbClr val="E8A33D"/>
          </a:solidFill>
          <a:ln/>
        </p:spPr>
      </p:sp>
      <p:sp>
        <p:nvSpPr>
          <p:cNvPr id="15" name="Shape 11"/>
          <p:cNvSpPr/>
          <p:nvPr/>
        </p:nvSpPr>
        <p:spPr>
          <a:xfrm>
            <a:off x="4489704" y="1691640"/>
            <a:ext cx="548640" cy="548640"/>
          </a:xfrm>
          <a:prstGeom prst="ellipse">
            <a:avLst/>
          </a:prstGeom>
          <a:solidFill>
            <a:srgbClr val="152238"/>
          </a:solidFill>
          <a:ln/>
        </p:spPr>
      </p:sp>
      <p:pic>
        <p:nvPicPr>
          <p:cNvPr id="16" name="Image 2" descr="icons/zap.png"/>
          <p:cNvPicPr>
            <a:picLocks noChangeAspect="1"/>
          </p:cNvPicPr>
          <p:nvPr/>
        </p:nvPicPr>
        <p:blipFill>
          <a:blip r:embed="rId5"/>
          <a:stretch>
            <a:fillRect/>
          </a:stretch>
        </p:blipFill>
        <p:spPr>
          <a:xfrm>
            <a:off x="4617720" y="1819656"/>
            <a:ext cx="292608" cy="292608"/>
          </a:xfrm>
          <a:prstGeom prst="rect">
            <a:avLst/>
          </a:prstGeom>
        </p:spPr>
      </p:pic>
      <p:sp>
        <p:nvSpPr>
          <p:cNvPr id="17" name="Text 12"/>
          <p:cNvSpPr/>
          <p:nvPr/>
        </p:nvSpPr>
        <p:spPr>
          <a:xfrm>
            <a:off x="7232904" y="1600200"/>
            <a:ext cx="365760" cy="365760"/>
          </a:xfrm>
          <a:prstGeom prst="rect">
            <a:avLst/>
          </a:prstGeom>
          <a:noFill/>
          <a:ln/>
        </p:spPr>
        <p:txBody>
          <a:bodyPr wrap="square" rtlCol="0" anchor="ctr"/>
          <a:lstStyle/>
          <a:p>
            <a:pPr marL="0" indent="0" algn="r">
              <a:buNone/>
            </a:pPr>
            <a:r>
              <a:rPr lang="en-US" sz="1600" b="1" dirty="0">
                <a:solidFill>
                  <a:srgbClr val="C7D0DC"/>
                </a:solidFill>
                <a:latin typeface="Cambria" pitchFamily="34" charset="0"/>
                <a:ea typeface="Cambria" pitchFamily="34" charset="-122"/>
                <a:cs typeface="Cambria" pitchFamily="34" charset="-120"/>
              </a:rPr>
              <a:t>2</a:t>
            </a:r>
            <a:endParaRPr lang="en-US" sz="1600" dirty="0"/>
          </a:p>
        </p:txBody>
      </p:sp>
      <p:sp>
        <p:nvSpPr>
          <p:cNvPr id="18" name="Text 13"/>
          <p:cNvSpPr/>
          <p:nvPr/>
        </p:nvSpPr>
        <p:spPr>
          <a:xfrm>
            <a:off x="4489704" y="2331720"/>
            <a:ext cx="2990088" cy="45720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Shift Toward Faster Shipping</a:t>
            </a:r>
            <a:endParaRPr lang="en-US" sz="1350" dirty="0"/>
          </a:p>
        </p:txBody>
      </p:sp>
      <p:sp>
        <p:nvSpPr>
          <p:cNvPr id="19" name="Text 14"/>
          <p:cNvSpPr/>
          <p:nvPr/>
        </p:nvSpPr>
        <p:spPr>
          <a:xfrm>
            <a:off x="4489704" y="2788920"/>
            <a:ext cx="2990088" cy="82296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Expand use of Express and Standard shipping where it makes financial sense, since they consistently deliver on time.</a:t>
            </a:r>
            <a:endParaRPr lang="en-US" sz="1080" dirty="0"/>
          </a:p>
        </p:txBody>
      </p:sp>
      <p:sp>
        <p:nvSpPr>
          <p:cNvPr id="20" name="Shape 15"/>
          <p:cNvSpPr/>
          <p:nvPr/>
        </p:nvSpPr>
        <p:spPr>
          <a:xfrm>
            <a:off x="7918704" y="1371600"/>
            <a:ext cx="3502152" cy="2331720"/>
          </a:xfrm>
          <a:prstGeom prst="roundRect">
            <a:avLst>
              <a:gd name="adj" fmla="val 3529"/>
            </a:avLst>
          </a:prstGeom>
          <a:solidFill>
            <a:srgbClr val="FFFFFF"/>
          </a:solidFill>
          <a:ln/>
          <a:effectLst>
            <a:outerShdw blurRad="101600" dist="25400" dir="5400000" algn="bl" rotWithShape="0">
              <a:srgbClr val="9AA5B1">
                <a:alpha val="25000"/>
              </a:srgbClr>
            </a:outerShdw>
          </a:effectLst>
        </p:spPr>
      </p:sp>
      <p:sp>
        <p:nvSpPr>
          <p:cNvPr id="21" name="Shape 16"/>
          <p:cNvSpPr/>
          <p:nvPr/>
        </p:nvSpPr>
        <p:spPr>
          <a:xfrm>
            <a:off x="7918704" y="1371600"/>
            <a:ext cx="3502152" cy="91440"/>
          </a:xfrm>
          <a:prstGeom prst="roundRect">
            <a:avLst>
              <a:gd name="adj" fmla="val 50000"/>
            </a:avLst>
          </a:prstGeom>
          <a:solidFill>
            <a:srgbClr val="E8A33D"/>
          </a:solidFill>
          <a:ln/>
        </p:spPr>
      </p:sp>
      <p:sp>
        <p:nvSpPr>
          <p:cNvPr id="22" name="Shape 17"/>
          <p:cNvSpPr/>
          <p:nvPr/>
        </p:nvSpPr>
        <p:spPr>
          <a:xfrm>
            <a:off x="8174736" y="1691640"/>
            <a:ext cx="548640" cy="548640"/>
          </a:xfrm>
          <a:prstGeom prst="ellipse">
            <a:avLst/>
          </a:prstGeom>
          <a:solidFill>
            <a:srgbClr val="152238"/>
          </a:solidFill>
          <a:ln/>
        </p:spPr>
      </p:sp>
      <p:pic>
        <p:nvPicPr>
          <p:cNvPr id="23" name="Image 3" descr="icons/shield.png"/>
          <p:cNvPicPr>
            <a:picLocks noChangeAspect="1"/>
          </p:cNvPicPr>
          <p:nvPr/>
        </p:nvPicPr>
        <p:blipFill>
          <a:blip r:embed="rId6"/>
          <a:stretch>
            <a:fillRect/>
          </a:stretch>
        </p:blipFill>
        <p:spPr>
          <a:xfrm>
            <a:off x="8302752" y="1819656"/>
            <a:ext cx="292608" cy="292608"/>
          </a:xfrm>
          <a:prstGeom prst="rect">
            <a:avLst/>
          </a:prstGeom>
        </p:spPr>
      </p:pic>
      <p:sp>
        <p:nvSpPr>
          <p:cNvPr id="24" name="Text 18"/>
          <p:cNvSpPr/>
          <p:nvPr/>
        </p:nvSpPr>
        <p:spPr>
          <a:xfrm>
            <a:off x="10917936" y="1600200"/>
            <a:ext cx="365760" cy="365760"/>
          </a:xfrm>
          <a:prstGeom prst="rect">
            <a:avLst/>
          </a:prstGeom>
          <a:noFill/>
          <a:ln/>
        </p:spPr>
        <p:txBody>
          <a:bodyPr wrap="square" rtlCol="0" anchor="ctr"/>
          <a:lstStyle/>
          <a:p>
            <a:pPr marL="0" indent="0" algn="r">
              <a:buNone/>
            </a:pPr>
            <a:r>
              <a:rPr lang="en-US" sz="1600" b="1" dirty="0">
                <a:solidFill>
                  <a:srgbClr val="C7D0DC"/>
                </a:solidFill>
                <a:latin typeface="Cambria" pitchFamily="34" charset="0"/>
                <a:ea typeface="Cambria" pitchFamily="34" charset="-122"/>
                <a:cs typeface="Cambria" pitchFamily="34" charset="-120"/>
              </a:rPr>
              <a:t>3</a:t>
            </a:r>
            <a:endParaRPr lang="en-US" sz="1600" dirty="0"/>
          </a:p>
        </p:txBody>
      </p:sp>
      <p:sp>
        <p:nvSpPr>
          <p:cNvPr id="25" name="Text 19"/>
          <p:cNvSpPr/>
          <p:nvPr/>
        </p:nvSpPr>
        <p:spPr>
          <a:xfrm>
            <a:off x="8174736" y="2331720"/>
            <a:ext cx="2990088" cy="45720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Manage Supplier Risk</a:t>
            </a:r>
            <a:endParaRPr lang="en-US" sz="1350" dirty="0"/>
          </a:p>
        </p:txBody>
      </p:sp>
      <p:sp>
        <p:nvSpPr>
          <p:cNvPr id="26" name="Text 20"/>
          <p:cNvSpPr/>
          <p:nvPr/>
        </p:nvSpPr>
        <p:spPr>
          <a:xfrm>
            <a:off x="8174736" y="2788920"/>
            <a:ext cx="2990088" cy="82296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Set clear delivery targets for suppliers through scorecards, and reduce over-reliance on any single top supplier.</a:t>
            </a:r>
            <a:endParaRPr lang="en-US" sz="1080" dirty="0"/>
          </a:p>
        </p:txBody>
      </p:sp>
      <p:sp>
        <p:nvSpPr>
          <p:cNvPr id="27" name="Shape 21"/>
          <p:cNvSpPr/>
          <p:nvPr/>
        </p:nvSpPr>
        <p:spPr>
          <a:xfrm>
            <a:off x="548640" y="3977640"/>
            <a:ext cx="3502152" cy="2331720"/>
          </a:xfrm>
          <a:prstGeom prst="roundRect">
            <a:avLst>
              <a:gd name="adj" fmla="val 3529"/>
            </a:avLst>
          </a:prstGeom>
          <a:solidFill>
            <a:srgbClr val="FFFFFF"/>
          </a:solidFill>
          <a:ln/>
          <a:effectLst>
            <a:outerShdw blurRad="101600" dist="25400" dir="5400000" algn="bl" rotWithShape="0">
              <a:srgbClr val="9AA5B1">
                <a:alpha val="25000"/>
              </a:srgbClr>
            </a:outerShdw>
          </a:effectLst>
        </p:spPr>
      </p:sp>
      <p:sp>
        <p:nvSpPr>
          <p:cNvPr id="28" name="Shape 22"/>
          <p:cNvSpPr/>
          <p:nvPr/>
        </p:nvSpPr>
        <p:spPr>
          <a:xfrm>
            <a:off x="548640" y="3977640"/>
            <a:ext cx="3502152" cy="91440"/>
          </a:xfrm>
          <a:prstGeom prst="roundRect">
            <a:avLst>
              <a:gd name="adj" fmla="val 50000"/>
            </a:avLst>
          </a:prstGeom>
          <a:solidFill>
            <a:srgbClr val="E8A33D"/>
          </a:solidFill>
          <a:ln/>
        </p:spPr>
      </p:sp>
      <p:sp>
        <p:nvSpPr>
          <p:cNvPr id="29" name="Shape 23"/>
          <p:cNvSpPr/>
          <p:nvPr/>
        </p:nvSpPr>
        <p:spPr>
          <a:xfrm>
            <a:off x="804672" y="4297680"/>
            <a:ext cx="548640" cy="548640"/>
          </a:xfrm>
          <a:prstGeom prst="ellipse">
            <a:avLst/>
          </a:prstGeom>
          <a:solidFill>
            <a:srgbClr val="152238"/>
          </a:solidFill>
          <a:ln/>
        </p:spPr>
      </p:sp>
      <p:pic>
        <p:nvPicPr>
          <p:cNvPr id="30" name="Image 4" descr="icons/box.png"/>
          <p:cNvPicPr>
            <a:picLocks noChangeAspect="1"/>
          </p:cNvPicPr>
          <p:nvPr/>
        </p:nvPicPr>
        <p:blipFill>
          <a:blip r:embed="rId7"/>
          <a:stretch>
            <a:fillRect/>
          </a:stretch>
        </p:blipFill>
        <p:spPr>
          <a:xfrm>
            <a:off x="932688" y="4425696"/>
            <a:ext cx="292608" cy="292608"/>
          </a:xfrm>
          <a:prstGeom prst="rect">
            <a:avLst/>
          </a:prstGeom>
        </p:spPr>
      </p:pic>
      <p:sp>
        <p:nvSpPr>
          <p:cNvPr id="31" name="Text 24"/>
          <p:cNvSpPr/>
          <p:nvPr/>
        </p:nvSpPr>
        <p:spPr>
          <a:xfrm>
            <a:off x="3547872" y="4206240"/>
            <a:ext cx="365760" cy="365760"/>
          </a:xfrm>
          <a:prstGeom prst="rect">
            <a:avLst/>
          </a:prstGeom>
          <a:noFill/>
          <a:ln/>
        </p:spPr>
        <p:txBody>
          <a:bodyPr wrap="square" rtlCol="0" anchor="ctr"/>
          <a:lstStyle/>
          <a:p>
            <a:pPr marL="0" indent="0" algn="r">
              <a:buNone/>
            </a:pPr>
            <a:r>
              <a:rPr lang="en-US" sz="1600" b="1" dirty="0">
                <a:solidFill>
                  <a:srgbClr val="C7D0DC"/>
                </a:solidFill>
                <a:latin typeface="Cambria" pitchFamily="34" charset="0"/>
                <a:ea typeface="Cambria" pitchFamily="34" charset="-122"/>
                <a:cs typeface="Cambria" pitchFamily="34" charset="-120"/>
              </a:rPr>
              <a:t>4</a:t>
            </a:r>
            <a:endParaRPr lang="en-US" sz="1600" dirty="0"/>
          </a:p>
        </p:txBody>
      </p:sp>
      <p:sp>
        <p:nvSpPr>
          <p:cNvPr id="32" name="Text 25"/>
          <p:cNvSpPr/>
          <p:nvPr/>
        </p:nvSpPr>
        <p:spPr>
          <a:xfrm>
            <a:off x="804672" y="4937760"/>
            <a:ext cx="2990088" cy="45720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Right-Size Inventory</a:t>
            </a:r>
            <a:endParaRPr lang="en-US" sz="1350" dirty="0"/>
          </a:p>
        </p:txBody>
      </p:sp>
      <p:sp>
        <p:nvSpPr>
          <p:cNvPr id="33" name="Text 26"/>
          <p:cNvSpPr/>
          <p:nvPr/>
        </p:nvSpPr>
        <p:spPr>
          <a:xfrm>
            <a:off x="804672" y="5394960"/>
            <a:ext cx="2990088" cy="82296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Adjust stock levels in categories holding far more inventory than customers actually order, to free up cash.</a:t>
            </a:r>
            <a:endParaRPr lang="en-US" sz="1080" dirty="0"/>
          </a:p>
        </p:txBody>
      </p:sp>
      <p:sp>
        <p:nvSpPr>
          <p:cNvPr id="34" name="Shape 27"/>
          <p:cNvSpPr/>
          <p:nvPr/>
        </p:nvSpPr>
        <p:spPr>
          <a:xfrm>
            <a:off x="4233672" y="3977640"/>
            <a:ext cx="3502152" cy="2331720"/>
          </a:xfrm>
          <a:prstGeom prst="roundRect">
            <a:avLst>
              <a:gd name="adj" fmla="val 3529"/>
            </a:avLst>
          </a:prstGeom>
          <a:solidFill>
            <a:srgbClr val="FFFFFF"/>
          </a:solidFill>
          <a:ln/>
          <a:effectLst>
            <a:outerShdw blurRad="101600" dist="25400" dir="5400000" algn="bl" rotWithShape="0">
              <a:srgbClr val="9AA5B1">
                <a:alpha val="25000"/>
              </a:srgbClr>
            </a:outerShdw>
          </a:effectLst>
        </p:spPr>
      </p:sp>
      <p:sp>
        <p:nvSpPr>
          <p:cNvPr id="35" name="Shape 28"/>
          <p:cNvSpPr/>
          <p:nvPr/>
        </p:nvSpPr>
        <p:spPr>
          <a:xfrm>
            <a:off x="4233672" y="3977640"/>
            <a:ext cx="3502152" cy="91440"/>
          </a:xfrm>
          <a:prstGeom prst="roundRect">
            <a:avLst>
              <a:gd name="adj" fmla="val 50000"/>
            </a:avLst>
          </a:prstGeom>
          <a:solidFill>
            <a:srgbClr val="E8A33D"/>
          </a:solidFill>
          <a:ln/>
        </p:spPr>
      </p:sp>
      <p:sp>
        <p:nvSpPr>
          <p:cNvPr id="36" name="Shape 29"/>
          <p:cNvSpPr/>
          <p:nvPr/>
        </p:nvSpPr>
        <p:spPr>
          <a:xfrm>
            <a:off x="4489704" y="4297680"/>
            <a:ext cx="548640" cy="548640"/>
          </a:xfrm>
          <a:prstGeom prst="ellipse">
            <a:avLst/>
          </a:prstGeom>
          <a:solidFill>
            <a:srgbClr val="152238"/>
          </a:solidFill>
          <a:ln/>
        </p:spPr>
      </p:sp>
      <p:pic>
        <p:nvPicPr>
          <p:cNvPr id="37" name="Image 5" descr="icons/dollar.png"/>
          <p:cNvPicPr>
            <a:picLocks noChangeAspect="1"/>
          </p:cNvPicPr>
          <p:nvPr/>
        </p:nvPicPr>
        <p:blipFill>
          <a:blip r:embed="rId8"/>
          <a:stretch>
            <a:fillRect/>
          </a:stretch>
        </p:blipFill>
        <p:spPr>
          <a:xfrm>
            <a:off x="4617720" y="4425696"/>
            <a:ext cx="292608" cy="292608"/>
          </a:xfrm>
          <a:prstGeom prst="rect">
            <a:avLst/>
          </a:prstGeom>
        </p:spPr>
      </p:pic>
      <p:sp>
        <p:nvSpPr>
          <p:cNvPr id="38" name="Text 30"/>
          <p:cNvSpPr/>
          <p:nvPr/>
        </p:nvSpPr>
        <p:spPr>
          <a:xfrm>
            <a:off x="7232904" y="4206240"/>
            <a:ext cx="365760" cy="365760"/>
          </a:xfrm>
          <a:prstGeom prst="rect">
            <a:avLst/>
          </a:prstGeom>
          <a:noFill/>
          <a:ln/>
        </p:spPr>
        <p:txBody>
          <a:bodyPr wrap="square" rtlCol="0" anchor="ctr"/>
          <a:lstStyle/>
          <a:p>
            <a:pPr marL="0" indent="0" algn="r">
              <a:buNone/>
            </a:pPr>
            <a:r>
              <a:rPr lang="en-US" sz="1600" b="1" dirty="0">
                <a:solidFill>
                  <a:srgbClr val="C7D0DC"/>
                </a:solidFill>
                <a:latin typeface="Cambria" pitchFamily="34" charset="0"/>
                <a:ea typeface="Cambria" pitchFamily="34" charset="-122"/>
                <a:cs typeface="Cambria" pitchFamily="34" charset="-120"/>
              </a:rPr>
              <a:t>5</a:t>
            </a:r>
            <a:endParaRPr lang="en-US" sz="1600" dirty="0"/>
          </a:p>
        </p:txBody>
      </p:sp>
      <p:sp>
        <p:nvSpPr>
          <p:cNvPr id="39" name="Text 31"/>
          <p:cNvSpPr/>
          <p:nvPr/>
        </p:nvSpPr>
        <p:spPr>
          <a:xfrm>
            <a:off x="4489704" y="4937760"/>
            <a:ext cx="2990088" cy="45720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Protect Profit Margins</a:t>
            </a:r>
            <a:endParaRPr lang="en-US" sz="1350" dirty="0"/>
          </a:p>
        </p:txBody>
      </p:sp>
      <p:sp>
        <p:nvSpPr>
          <p:cNvPr id="40" name="Text 32"/>
          <p:cNvSpPr/>
          <p:nvPr/>
        </p:nvSpPr>
        <p:spPr>
          <a:xfrm>
            <a:off x="4489704" y="5394960"/>
            <a:ext cx="2990088" cy="82296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Review pricing and costs in high-revenue, lower-margin categories to improve overall profitability.</a:t>
            </a:r>
            <a:endParaRPr lang="en-US" sz="1080" dirty="0"/>
          </a:p>
        </p:txBody>
      </p:sp>
      <p:sp>
        <p:nvSpPr>
          <p:cNvPr id="41" name="Shape 33"/>
          <p:cNvSpPr/>
          <p:nvPr/>
        </p:nvSpPr>
        <p:spPr>
          <a:xfrm>
            <a:off x="7918704" y="3977640"/>
            <a:ext cx="3502152" cy="2331720"/>
          </a:xfrm>
          <a:prstGeom prst="roundRect">
            <a:avLst>
              <a:gd name="adj" fmla="val 3529"/>
            </a:avLst>
          </a:prstGeom>
          <a:solidFill>
            <a:srgbClr val="FFFFFF"/>
          </a:solidFill>
          <a:ln/>
          <a:effectLst>
            <a:outerShdw blurRad="101600" dist="25400" dir="5400000" algn="bl" rotWithShape="0">
              <a:srgbClr val="9AA5B1">
                <a:alpha val="25000"/>
              </a:srgbClr>
            </a:outerShdw>
          </a:effectLst>
        </p:spPr>
      </p:sp>
      <p:sp>
        <p:nvSpPr>
          <p:cNvPr id="42" name="Shape 34"/>
          <p:cNvSpPr/>
          <p:nvPr/>
        </p:nvSpPr>
        <p:spPr>
          <a:xfrm>
            <a:off x="7918704" y="3977640"/>
            <a:ext cx="3502152" cy="91440"/>
          </a:xfrm>
          <a:prstGeom prst="roundRect">
            <a:avLst>
              <a:gd name="adj" fmla="val 50000"/>
            </a:avLst>
          </a:prstGeom>
          <a:solidFill>
            <a:srgbClr val="E8A33D"/>
          </a:solidFill>
          <a:ln/>
        </p:spPr>
      </p:sp>
      <p:sp>
        <p:nvSpPr>
          <p:cNvPr id="43" name="Shape 35"/>
          <p:cNvSpPr/>
          <p:nvPr/>
        </p:nvSpPr>
        <p:spPr>
          <a:xfrm>
            <a:off x="8174736" y="4297680"/>
            <a:ext cx="548640" cy="548640"/>
          </a:xfrm>
          <a:prstGeom prst="ellipse">
            <a:avLst/>
          </a:prstGeom>
          <a:solidFill>
            <a:srgbClr val="152238"/>
          </a:solidFill>
          <a:ln/>
        </p:spPr>
      </p:sp>
      <p:pic>
        <p:nvPicPr>
          <p:cNvPr id="44" name="Image 6" descr="icons/trend.png"/>
          <p:cNvPicPr>
            <a:picLocks noChangeAspect="1"/>
          </p:cNvPicPr>
          <p:nvPr/>
        </p:nvPicPr>
        <p:blipFill>
          <a:blip r:embed="rId9"/>
          <a:stretch>
            <a:fillRect/>
          </a:stretch>
        </p:blipFill>
        <p:spPr>
          <a:xfrm>
            <a:off x="8302752" y="4425696"/>
            <a:ext cx="292608" cy="292608"/>
          </a:xfrm>
          <a:prstGeom prst="rect">
            <a:avLst/>
          </a:prstGeom>
        </p:spPr>
      </p:pic>
      <p:sp>
        <p:nvSpPr>
          <p:cNvPr id="45" name="Text 36"/>
          <p:cNvSpPr/>
          <p:nvPr/>
        </p:nvSpPr>
        <p:spPr>
          <a:xfrm>
            <a:off x="10917936" y="4206240"/>
            <a:ext cx="365760" cy="365760"/>
          </a:xfrm>
          <a:prstGeom prst="rect">
            <a:avLst/>
          </a:prstGeom>
          <a:noFill/>
          <a:ln/>
        </p:spPr>
        <p:txBody>
          <a:bodyPr wrap="square" rtlCol="0" anchor="ctr"/>
          <a:lstStyle/>
          <a:p>
            <a:pPr marL="0" indent="0" algn="r">
              <a:buNone/>
            </a:pPr>
            <a:r>
              <a:rPr lang="en-US" sz="1600" b="1" dirty="0">
                <a:solidFill>
                  <a:srgbClr val="C7D0DC"/>
                </a:solidFill>
                <a:latin typeface="Cambria" pitchFamily="34" charset="0"/>
                <a:ea typeface="Cambria" pitchFamily="34" charset="-122"/>
                <a:cs typeface="Cambria" pitchFamily="34" charset="-120"/>
              </a:rPr>
              <a:t>6</a:t>
            </a:r>
            <a:endParaRPr lang="en-US" sz="1600" dirty="0"/>
          </a:p>
        </p:txBody>
      </p:sp>
      <p:sp>
        <p:nvSpPr>
          <p:cNvPr id="46" name="Text 37"/>
          <p:cNvSpPr/>
          <p:nvPr/>
        </p:nvSpPr>
        <p:spPr>
          <a:xfrm>
            <a:off x="8174736" y="4937760"/>
            <a:ext cx="2990088" cy="457200"/>
          </a:xfrm>
          <a:prstGeom prst="rect">
            <a:avLst/>
          </a:prstGeom>
          <a:noFill/>
          <a:ln/>
        </p:spPr>
        <p:txBody>
          <a:bodyPr wrap="square" rtlCol="0" anchor="ctr"/>
          <a:lstStyle/>
          <a:p>
            <a:pPr marL="0" indent="0">
              <a:buNone/>
            </a:pPr>
            <a:r>
              <a:rPr lang="en-US" sz="1350" b="1" dirty="0">
                <a:solidFill>
                  <a:srgbClr val="152238"/>
                </a:solidFill>
                <a:latin typeface="Cambria" pitchFamily="34" charset="0"/>
                <a:ea typeface="Cambria" pitchFamily="34" charset="-122"/>
                <a:cs typeface="Cambria" pitchFamily="34" charset="-120"/>
              </a:rPr>
              <a:t>Plan Around Seasonality</a:t>
            </a:r>
            <a:endParaRPr lang="en-US" sz="1350" dirty="0"/>
          </a:p>
        </p:txBody>
      </p:sp>
      <p:sp>
        <p:nvSpPr>
          <p:cNvPr id="47" name="Text 38"/>
          <p:cNvSpPr/>
          <p:nvPr/>
        </p:nvSpPr>
        <p:spPr>
          <a:xfrm>
            <a:off x="8174736" y="5394960"/>
            <a:ext cx="2990088" cy="822960"/>
          </a:xfrm>
          <a:prstGeom prst="rect">
            <a:avLst/>
          </a:prstGeom>
          <a:noFill/>
          <a:ln/>
        </p:spPr>
        <p:txBody>
          <a:bodyPr wrap="square" rtlCol="0" anchor="ctr"/>
          <a:lstStyle/>
          <a:p>
            <a:pPr marL="0" indent="0">
              <a:lnSpc>
                <a:spcPts val="1400"/>
              </a:lnSpc>
              <a:buNone/>
            </a:pPr>
            <a:r>
              <a:rPr lang="en-US" sz="1080" dirty="0">
                <a:solidFill>
                  <a:srgbClr val="5B6B7C"/>
                </a:solidFill>
                <a:latin typeface="Calibri" pitchFamily="34" charset="0"/>
                <a:ea typeface="Calibri" pitchFamily="34" charset="-122"/>
                <a:cs typeface="Calibri" pitchFamily="34" charset="-120"/>
              </a:rPr>
              <a:t>Use the monthly revenue pattern to forecast demand and staff, stock, and promote accordingly.</a:t>
            </a:r>
            <a:endParaRPr lang="en-US" sz="1080" dirty="0"/>
          </a:p>
        </p:txBody>
      </p:sp>
      <p:sp>
        <p:nvSpPr>
          <p:cNvPr id="48" name="Text 39"/>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B6B7C"/>
                </a:solidFill>
                <a:latin typeface="Calibri" pitchFamily="34" charset="0"/>
                <a:ea typeface="Calibri" pitchFamily="34" charset="-122"/>
                <a:cs typeface="Calibri" pitchFamily="34" charset="-120"/>
              </a:rPr>
              <a:t>GlobalMart Supply Chain Analytics</a:t>
            </a:r>
            <a:endParaRPr lang="en-US" sz="900" dirty="0"/>
          </a:p>
        </p:txBody>
      </p:sp>
      <p:sp>
        <p:nvSpPr>
          <p:cNvPr id="49" name="Text 40"/>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238"/>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52238"/>
          </a:solidFill>
          <a:ln/>
        </p:spPr>
      </p:sp>
      <p:sp>
        <p:nvSpPr>
          <p:cNvPr id="3" name="Shape 1"/>
          <p:cNvSpPr/>
          <p:nvPr/>
        </p:nvSpPr>
        <p:spPr>
          <a:xfrm>
            <a:off x="548640" y="502920"/>
            <a:ext cx="502920" cy="502920"/>
          </a:xfrm>
          <a:prstGeom prst="ellipse">
            <a:avLst/>
          </a:prstGeom>
          <a:solidFill>
            <a:srgbClr val="1C2E4A"/>
          </a:solidFill>
          <a:ln/>
        </p:spPr>
      </p:sp>
      <p:pic>
        <p:nvPicPr>
          <p:cNvPr id="4" name="Image 0" descr="icons/flag-white.png"/>
          <p:cNvPicPr>
            <a:picLocks noChangeAspect="1"/>
          </p:cNvPicPr>
          <p:nvPr/>
        </p:nvPicPr>
        <p:blipFill>
          <a:blip r:embed="rId3"/>
          <a:stretch>
            <a:fillRect/>
          </a:stretch>
        </p:blipFill>
        <p:spPr>
          <a:xfrm>
            <a:off x="658368" y="612648"/>
            <a:ext cx="283464" cy="283464"/>
          </a:xfrm>
          <a:prstGeom prst="rect">
            <a:avLst/>
          </a:prstGeom>
        </p:spPr>
      </p:pic>
      <p:sp>
        <p:nvSpPr>
          <p:cNvPr id="5" name="Text 2"/>
          <p:cNvSpPr/>
          <p:nvPr/>
        </p:nvSpPr>
        <p:spPr>
          <a:xfrm>
            <a:off x="1188720" y="548640"/>
            <a:ext cx="7315200" cy="411480"/>
          </a:xfrm>
          <a:prstGeom prst="rect">
            <a:avLst/>
          </a:prstGeom>
          <a:noFill/>
          <a:ln/>
        </p:spPr>
        <p:txBody>
          <a:bodyPr wrap="square"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CONCLUSION &amp; NEXT STEPS</a:t>
            </a:r>
            <a:endParaRPr lang="en-US" sz="1400" dirty="0"/>
          </a:p>
        </p:txBody>
      </p:sp>
      <p:sp>
        <p:nvSpPr>
          <p:cNvPr id="6" name="Text 3"/>
          <p:cNvSpPr/>
          <p:nvPr/>
        </p:nvSpPr>
        <p:spPr>
          <a:xfrm>
            <a:off x="548640" y="1234440"/>
            <a:ext cx="10789920" cy="914400"/>
          </a:xfrm>
          <a:prstGeom prst="rect">
            <a:avLst/>
          </a:prstGeom>
          <a:noFill/>
          <a:ln/>
        </p:spPr>
        <p:txBody>
          <a:bodyPr wrap="square" rtlCol="0" anchor="ctr"/>
          <a:lstStyle/>
          <a:p>
            <a:pPr marL="0" indent="0">
              <a:lnSpc>
                <a:spcPts val="3200"/>
              </a:lnSpc>
              <a:buNone/>
            </a:pPr>
            <a:r>
              <a:rPr lang="en-US" sz="2600" b="1" dirty="0">
                <a:solidFill>
                  <a:srgbClr val="FFFFFF"/>
                </a:solidFill>
                <a:latin typeface="Cambria" pitchFamily="34" charset="0"/>
                <a:ea typeface="Cambria" pitchFamily="34" charset="-122"/>
                <a:cs typeface="Cambria" pitchFamily="34" charset="-120"/>
              </a:rPr>
              <a:t>Clean data turned scattered records into a clear growth plan.</a:t>
            </a:r>
            <a:endParaRPr lang="en-US" sz="2600" dirty="0"/>
          </a:p>
        </p:txBody>
      </p:sp>
      <p:sp>
        <p:nvSpPr>
          <p:cNvPr id="7" name="Text 4"/>
          <p:cNvSpPr/>
          <p:nvPr/>
        </p:nvSpPr>
        <p:spPr>
          <a:xfrm>
            <a:off x="548640" y="2286000"/>
            <a:ext cx="10607040" cy="777240"/>
          </a:xfrm>
          <a:prstGeom prst="rect">
            <a:avLst/>
          </a:prstGeom>
          <a:noFill/>
          <a:ln/>
        </p:spPr>
        <p:txBody>
          <a:bodyPr wrap="square" rtlCol="0" anchor="ctr"/>
          <a:lstStyle/>
          <a:p>
            <a:pPr marL="0" indent="0">
              <a:lnSpc>
                <a:spcPts val="2000"/>
              </a:lnSpc>
              <a:buNone/>
            </a:pPr>
            <a:r>
              <a:rPr lang="en-US" sz="1400" dirty="0">
                <a:solidFill>
                  <a:srgbClr val="C9D3E0"/>
                </a:solidFill>
                <a:latin typeface="Calibri" pitchFamily="34" charset="0"/>
                <a:ea typeface="Calibri" pitchFamily="34" charset="-122"/>
                <a:cs typeface="Calibri" pitchFamily="34" charset="-120"/>
              </a:rPr>
              <a:t>This project shows that GlobalMart doesn't need more data — it needs the data it already has organized and made visible. With reliable dashboards now in place, leadership can move from guessing to deciding.</a:t>
            </a:r>
            <a:endParaRPr lang="en-US" sz="1400" dirty="0"/>
          </a:p>
        </p:txBody>
      </p:sp>
      <p:sp>
        <p:nvSpPr>
          <p:cNvPr id="8" name="Shape 5"/>
          <p:cNvSpPr/>
          <p:nvPr/>
        </p:nvSpPr>
        <p:spPr>
          <a:xfrm>
            <a:off x="548640" y="3383280"/>
            <a:ext cx="3502152" cy="2148840"/>
          </a:xfrm>
          <a:prstGeom prst="roundRect">
            <a:avLst>
              <a:gd name="adj" fmla="val 3830"/>
            </a:avLst>
          </a:prstGeom>
          <a:solidFill>
            <a:srgbClr val="1C2E4A"/>
          </a:solidFill>
          <a:ln/>
        </p:spPr>
      </p:sp>
      <p:sp>
        <p:nvSpPr>
          <p:cNvPr id="9" name="Shape 6"/>
          <p:cNvSpPr/>
          <p:nvPr/>
        </p:nvSpPr>
        <p:spPr>
          <a:xfrm>
            <a:off x="822960" y="3657600"/>
            <a:ext cx="502920" cy="502920"/>
          </a:xfrm>
          <a:prstGeom prst="ellipse">
            <a:avLst/>
          </a:prstGeom>
          <a:solidFill>
            <a:srgbClr val="E8A33D"/>
          </a:solidFill>
          <a:ln/>
        </p:spPr>
      </p:sp>
      <p:pic>
        <p:nvPicPr>
          <p:cNvPr id="10" name="Image 1" descr="icons/clock.png"/>
          <p:cNvPicPr>
            <a:picLocks noChangeAspect="1"/>
          </p:cNvPicPr>
          <p:nvPr/>
        </p:nvPicPr>
        <p:blipFill>
          <a:blip r:embed="rId4"/>
          <a:stretch>
            <a:fillRect/>
          </a:stretch>
        </p:blipFill>
        <p:spPr>
          <a:xfrm>
            <a:off x="932688" y="3767328"/>
            <a:ext cx="283464" cy="283464"/>
          </a:xfrm>
          <a:prstGeom prst="rect">
            <a:avLst/>
          </a:prstGeom>
        </p:spPr>
      </p:pic>
      <p:sp>
        <p:nvSpPr>
          <p:cNvPr id="11" name="Text 7"/>
          <p:cNvSpPr/>
          <p:nvPr/>
        </p:nvSpPr>
        <p:spPr>
          <a:xfrm>
            <a:off x="822960" y="4343400"/>
            <a:ext cx="2953512" cy="45720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Address late deliveries</a:t>
            </a:r>
            <a:endParaRPr lang="en-US" sz="1400" dirty="0"/>
          </a:p>
        </p:txBody>
      </p:sp>
      <p:sp>
        <p:nvSpPr>
          <p:cNvPr id="12" name="Text 8"/>
          <p:cNvSpPr/>
          <p:nvPr/>
        </p:nvSpPr>
        <p:spPr>
          <a:xfrm>
            <a:off x="822960" y="4800600"/>
            <a:ext cx="2953512" cy="640080"/>
          </a:xfrm>
          <a:prstGeom prst="rect">
            <a:avLst/>
          </a:prstGeom>
          <a:noFill/>
          <a:ln/>
        </p:spPr>
        <p:txBody>
          <a:bodyPr wrap="square" rtlCol="0" anchor="ctr"/>
          <a:lstStyle/>
          <a:p>
            <a:pPr marL="0" indent="0">
              <a:lnSpc>
                <a:spcPts val="1400"/>
              </a:lnSpc>
              <a:buNone/>
            </a:pPr>
            <a:r>
              <a:rPr lang="en-US" sz="1100" dirty="0">
                <a:solidFill>
                  <a:srgbClr val="AEBBCC"/>
                </a:solidFill>
                <a:latin typeface="Calibri" pitchFamily="34" charset="0"/>
                <a:ea typeface="Calibri" pitchFamily="34" charset="-122"/>
                <a:cs typeface="Calibri" pitchFamily="34" charset="-120"/>
              </a:rPr>
              <a:t>Make on-time delivery the top operational priority for the next quarter.</a:t>
            </a:r>
            <a:endParaRPr lang="en-US" sz="1100" dirty="0"/>
          </a:p>
        </p:txBody>
      </p:sp>
      <p:sp>
        <p:nvSpPr>
          <p:cNvPr id="13" name="Shape 9"/>
          <p:cNvSpPr/>
          <p:nvPr/>
        </p:nvSpPr>
        <p:spPr>
          <a:xfrm>
            <a:off x="4233672" y="3383280"/>
            <a:ext cx="3502152" cy="2148840"/>
          </a:xfrm>
          <a:prstGeom prst="roundRect">
            <a:avLst>
              <a:gd name="adj" fmla="val 3830"/>
            </a:avLst>
          </a:prstGeom>
          <a:solidFill>
            <a:srgbClr val="1C2E4A"/>
          </a:solidFill>
          <a:ln/>
        </p:spPr>
      </p:sp>
      <p:sp>
        <p:nvSpPr>
          <p:cNvPr id="14" name="Shape 10"/>
          <p:cNvSpPr/>
          <p:nvPr/>
        </p:nvSpPr>
        <p:spPr>
          <a:xfrm>
            <a:off x="4507992" y="3657600"/>
            <a:ext cx="502920" cy="502920"/>
          </a:xfrm>
          <a:prstGeom prst="ellipse">
            <a:avLst/>
          </a:prstGeom>
          <a:solidFill>
            <a:srgbClr val="E8A33D"/>
          </a:solidFill>
          <a:ln/>
        </p:spPr>
      </p:sp>
      <p:pic>
        <p:nvPicPr>
          <p:cNvPr id="15" name="Image 2" descr="icons/dollar.png"/>
          <p:cNvPicPr>
            <a:picLocks noChangeAspect="1"/>
          </p:cNvPicPr>
          <p:nvPr/>
        </p:nvPicPr>
        <p:blipFill>
          <a:blip r:embed="rId5"/>
          <a:stretch>
            <a:fillRect/>
          </a:stretch>
        </p:blipFill>
        <p:spPr>
          <a:xfrm>
            <a:off x="4617720" y="3767328"/>
            <a:ext cx="283464" cy="283464"/>
          </a:xfrm>
          <a:prstGeom prst="rect">
            <a:avLst/>
          </a:prstGeom>
        </p:spPr>
      </p:pic>
      <p:sp>
        <p:nvSpPr>
          <p:cNvPr id="16" name="Text 11"/>
          <p:cNvSpPr/>
          <p:nvPr/>
        </p:nvSpPr>
        <p:spPr>
          <a:xfrm>
            <a:off x="4507992" y="4343400"/>
            <a:ext cx="2953512" cy="45720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Rebalance the product mix</a:t>
            </a:r>
            <a:endParaRPr lang="en-US" sz="1400" dirty="0"/>
          </a:p>
        </p:txBody>
      </p:sp>
      <p:sp>
        <p:nvSpPr>
          <p:cNvPr id="17" name="Text 12"/>
          <p:cNvSpPr/>
          <p:nvPr/>
        </p:nvSpPr>
        <p:spPr>
          <a:xfrm>
            <a:off x="4507992" y="4800600"/>
            <a:ext cx="2953512" cy="640080"/>
          </a:xfrm>
          <a:prstGeom prst="rect">
            <a:avLst/>
          </a:prstGeom>
          <a:noFill/>
          <a:ln/>
        </p:spPr>
        <p:txBody>
          <a:bodyPr wrap="square" rtlCol="0" anchor="ctr"/>
          <a:lstStyle/>
          <a:p>
            <a:pPr marL="0" indent="0">
              <a:lnSpc>
                <a:spcPts val="1400"/>
              </a:lnSpc>
              <a:buNone/>
            </a:pPr>
            <a:r>
              <a:rPr lang="en-US" sz="1100" dirty="0">
                <a:solidFill>
                  <a:srgbClr val="AEBBCC"/>
                </a:solidFill>
                <a:latin typeface="Calibri" pitchFamily="34" charset="0"/>
                <a:ea typeface="Calibri" pitchFamily="34" charset="-122"/>
                <a:cs typeface="Calibri" pitchFamily="34" charset="-120"/>
              </a:rPr>
              <a:t>Shift investment toward higher-margin categories identified in this analysis.</a:t>
            </a:r>
            <a:endParaRPr lang="en-US" sz="1100" dirty="0"/>
          </a:p>
        </p:txBody>
      </p:sp>
      <p:sp>
        <p:nvSpPr>
          <p:cNvPr id="18" name="Shape 13"/>
          <p:cNvSpPr/>
          <p:nvPr/>
        </p:nvSpPr>
        <p:spPr>
          <a:xfrm>
            <a:off x="7918704" y="3383280"/>
            <a:ext cx="3502152" cy="2148840"/>
          </a:xfrm>
          <a:prstGeom prst="roundRect">
            <a:avLst>
              <a:gd name="adj" fmla="val 3830"/>
            </a:avLst>
          </a:prstGeom>
          <a:solidFill>
            <a:srgbClr val="1C2E4A"/>
          </a:solidFill>
          <a:ln/>
        </p:spPr>
      </p:sp>
      <p:sp>
        <p:nvSpPr>
          <p:cNvPr id="19" name="Shape 14"/>
          <p:cNvSpPr/>
          <p:nvPr/>
        </p:nvSpPr>
        <p:spPr>
          <a:xfrm>
            <a:off x="8193024" y="3657600"/>
            <a:ext cx="502920" cy="502920"/>
          </a:xfrm>
          <a:prstGeom prst="ellipse">
            <a:avLst/>
          </a:prstGeom>
          <a:solidFill>
            <a:srgbClr val="E8A33D"/>
          </a:solidFill>
          <a:ln/>
        </p:spPr>
      </p:sp>
      <p:pic>
        <p:nvPicPr>
          <p:cNvPr id="20" name="Image 3" descr="icons/database.png"/>
          <p:cNvPicPr>
            <a:picLocks noChangeAspect="1"/>
          </p:cNvPicPr>
          <p:nvPr/>
        </p:nvPicPr>
        <p:blipFill>
          <a:blip r:embed="rId6"/>
          <a:stretch>
            <a:fillRect/>
          </a:stretch>
        </p:blipFill>
        <p:spPr>
          <a:xfrm>
            <a:off x="8302752" y="3767328"/>
            <a:ext cx="283464" cy="283464"/>
          </a:xfrm>
          <a:prstGeom prst="rect">
            <a:avLst/>
          </a:prstGeom>
        </p:spPr>
      </p:pic>
      <p:sp>
        <p:nvSpPr>
          <p:cNvPr id="21" name="Text 15"/>
          <p:cNvSpPr/>
          <p:nvPr/>
        </p:nvSpPr>
        <p:spPr>
          <a:xfrm>
            <a:off x="8193024" y="4343400"/>
            <a:ext cx="2953512" cy="45720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Keep the dashboards current</a:t>
            </a:r>
            <a:endParaRPr lang="en-US" sz="1400" dirty="0"/>
          </a:p>
        </p:txBody>
      </p:sp>
      <p:sp>
        <p:nvSpPr>
          <p:cNvPr id="22" name="Text 16"/>
          <p:cNvSpPr/>
          <p:nvPr/>
        </p:nvSpPr>
        <p:spPr>
          <a:xfrm>
            <a:off x="8193024" y="4800600"/>
            <a:ext cx="2953512" cy="640080"/>
          </a:xfrm>
          <a:prstGeom prst="rect">
            <a:avLst/>
          </a:prstGeom>
          <a:noFill/>
          <a:ln/>
        </p:spPr>
        <p:txBody>
          <a:bodyPr wrap="square" rtlCol="0" anchor="ctr"/>
          <a:lstStyle/>
          <a:p>
            <a:pPr marL="0" indent="0">
              <a:lnSpc>
                <a:spcPts val="1400"/>
              </a:lnSpc>
              <a:buNone/>
            </a:pPr>
            <a:r>
              <a:rPr lang="en-US" sz="1100" dirty="0">
                <a:solidFill>
                  <a:srgbClr val="AEBBCC"/>
                </a:solidFill>
                <a:latin typeface="Calibri" pitchFamily="34" charset="0"/>
                <a:ea typeface="Calibri" pitchFamily="34" charset="-122"/>
                <a:cs typeface="Calibri" pitchFamily="34" charset="-120"/>
              </a:rPr>
              <a:t>Refresh the data regularly so leadership always has today's picture, not last quarter's.</a:t>
            </a:r>
            <a:endParaRPr lang="en-US" sz="1100" dirty="0"/>
          </a:p>
        </p:txBody>
      </p:sp>
      <p:sp>
        <p:nvSpPr>
          <p:cNvPr id="23" name="Shape 17"/>
          <p:cNvSpPr/>
          <p:nvPr/>
        </p:nvSpPr>
        <p:spPr>
          <a:xfrm>
            <a:off x="548640" y="5989320"/>
            <a:ext cx="10698480" cy="0"/>
          </a:xfrm>
          <a:prstGeom prst="line">
            <a:avLst/>
          </a:prstGeom>
          <a:noFill/>
          <a:ln w="12700">
            <a:solidFill>
              <a:srgbClr val="2B3E5C"/>
            </a:solidFill>
            <a:prstDash val="solid"/>
          </a:ln>
        </p:spPr>
      </p:sp>
      <p:sp>
        <p:nvSpPr>
          <p:cNvPr id="24" name="Text 18"/>
          <p:cNvSpPr/>
          <p:nvPr/>
        </p:nvSpPr>
        <p:spPr>
          <a:xfrm>
            <a:off x="548640" y="6126480"/>
            <a:ext cx="4572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Aleemat Agboola</a:t>
            </a:r>
            <a:endParaRPr lang="en-US" sz="1300" dirty="0"/>
          </a:p>
        </p:txBody>
      </p:sp>
      <p:sp>
        <p:nvSpPr>
          <p:cNvPr id="25" name="Text 19"/>
          <p:cNvSpPr/>
          <p:nvPr/>
        </p:nvSpPr>
        <p:spPr>
          <a:xfrm>
            <a:off x="8229600" y="6126480"/>
            <a:ext cx="3017520" cy="320040"/>
          </a:xfrm>
          <a:prstGeom prst="rect">
            <a:avLst/>
          </a:prstGeom>
          <a:noFill/>
          <a:ln/>
        </p:spPr>
        <p:txBody>
          <a:bodyPr wrap="square" rtlCol="0" anchor="ctr"/>
          <a:lstStyle/>
          <a:p>
            <a:pPr marL="0" indent="0" algn="r">
              <a:buNone/>
            </a:pPr>
            <a:r>
              <a:rPr lang="en-US" sz="1400" i="1" dirty="0">
                <a:solidFill>
                  <a:srgbClr val="E8A33D"/>
                </a:solidFill>
                <a:latin typeface="Cambria" pitchFamily="34" charset="0"/>
                <a:ea typeface="Cambria" pitchFamily="34" charset="-122"/>
                <a:cs typeface="Cambria"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1130</Words>
  <Application>Microsoft Office PowerPoint</Application>
  <PresentationFormat>Widescreen</PresentationFormat>
  <Paragraphs>145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Aleema Agbooola</cp:lastModifiedBy>
  <cp:revision>3</cp:revision>
  <dcterms:created xsi:type="dcterms:W3CDTF">2026-07-21T19:11:09Z</dcterms:created>
  <dcterms:modified xsi:type="dcterms:W3CDTF">2026-07-21T19:35:40Z</dcterms:modified>
</cp:coreProperties>
</file>